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73" r:id="rId3"/>
    <p:sldId id="257" r:id="rId4"/>
    <p:sldId id="268" r:id="rId5"/>
    <p:sldId id="269" r:id="rId6"/>
    <p:sldId id="270" r:id="rId7"/>
    <p:sldId id="259" r:id="rId8"/>
    <p:sldId id="272" r:id="rId9"/>
    <p:sldId id="263" r:id="rId10"/>
    <p:sldId id="261" r:id="rId11"/>
    <p:sldId id="264"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043C63-272F-43FE-B6FA-5E5F91707A7F}" v="9" dt="2026-07-06T14:32:23.5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1" autoAdjust="0"/>
    <p:restoredTop sz="84625" autoAdjust="0"/>
  </p:normalViewPr>
  <p:slideViewPr>
    <p:cSldViewPr snapToGrid="0" snapToObjects="1">
      <p:cViewPr>
        <p:scale>
          <a:sx n="75" d="100"/>
          <a:sy n="75" d="100"/>
        </p:scale>
        <p:origin x="18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518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today is not to train everyone to initialise a LEAP area from start to finish. The goal is to explain what initialisation is, why the structure looks the way it does, and what modellers should understand before working with the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Initialisation</a:t>
            </a:r>
            <a:r>
              <a:rPr lang="en-US" dirty="0"/>
              <a:t> creates a detailed, reusable, ESTO-aligned starting point for each economy's LEAP model. It sets up the major structure, placeholder branches, transformation and supply systems, base-year estimates, and projection-year estimates before detailed demand models and power modelling are fully imported.</a:t>
            </a:r>
          </a:p>
          <a:p>
            <a:endParaRPr lang="en-US" b="1" dirty="0"/>
          </a:p>
          <a:p>
            <a:endParaRPr lang="en-US" b="1" dirty="0"/>
          </a:p>
          <a:p>
            <a:r>
              <a:rPr lang="en-US" b="1" dirty="0"/>
              <a:t>Definitions</a:t>
            </a:r>
          </a:p>
          <a:p>
            <a:endParaRPr lang="en-US" dirty="0"/>
          </a:p>
          <a:p>
            <a:r>
              <a:rPr lang="en-NZ" b="1" dirty="0"/>
              <a:t>Branch import</a:t>
            </a:r>
            <a:r>
              <a:rPr lang="en-NZ" dirty="0"/>
              <a:t> = copies LEAP structure. </a:t>
            </a:r>
            <a:r>
              <a:rPr lang="en-NZ" b="1" dirty="0"/>
              <a:t>Workbook import</a:t>
            </a:r>
            <a:r>
              <a:rPr lang="en-NZ" dirty="0"/>
              <a:t> = puts values/data into that structure. </a:t>
            </a:r>
            <a:r>
              <a:rPr lang="en-NZ" b="1" dirty="0"/>
              <a:t>LEAP export workbook</a:t>
            </a:r>
            <a:r>
              <a:rPr lang="en-NZ" dirty="0"/>
              <a:t> = tells the code what LEAP’s input structure looks like. </a:t>
            </a:r>
            <a:r>
              <a:rPr lang="en-NZ" b="1" dirty="0"/>
              <a:t>Results export</a:t>
            </a:r>
            <a:r>
              <a:rPr lang="en-NZ" dirty="0"/>
              <a:t> = shows what LEAP calculated after running. </a:t>
            </a:r>
            <a:r>
              <a:rPr lang="en-NZ" b="1" dirty="0"/>
              <a:t>Baseline seed</a:t>
            </a:r>
            <a:r>
              <a:rPr lang="en-NZ" dirty="0"/>
              <a:t> = first import workbook that gives the model enough data to calculate. </a:t>
            </a:r>
            <a:r>
              <a:rPr lang="en-NZ" b="1" dirty="0"/>
              <a:t>Reconciliation</a:t>
            </a:r>
            <a:r>
              <a:rPr lang="en-NZ" dirty="0"/>
              <a:t> = comparing LEAP outputs with ESTO/9th and deciding what to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i="1" dirty="0"/>
              <a:t>Not to be confused with the LEAP export workbook which can be used to understand and quickly change branch paths, variables, scenarios, units, etc. before re-importing.</a:t>
            </a:r>
          </a:p>
          <a:p>
            <a:endParaRPr lang="en-NZ" dirty="0"/>
          </a:p>
        </p:txBody>
      </p:sp>
    </p:spTree>
    <p:extLst>
      <p:ext uri="{BB962C8B-B14F-4D97-AF65-F5344CB8AC3E}">
        <p14:creationId xmlns:p14="http://schemas.microsoft.com/office/powerpoint/2010/main" val="3328388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that every detailed ESTO item needs a complicated model. The point is that preserving detail makes mapping, comparison, checking, reconciliation, consistency across economies, and future updates easier. We can always aggregate later, but reconstructing lost detail is much harder.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2EE60-A8A4-FE3A-A0CC-02A8D3E13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FF5A2-1995-27E9-205A-461A3DF48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DEA52-D8DE-9232-36C8-7BD018E38463}"/>
              </a:ext>
            </a:extLst>
          </p:cNvPr>
          <p:cNvSpPr>
            <a:spLocks noGrp="1"/>
          </p:cNvSpPr>
          <p:nvPr>
            <p:ph type="body" idx="1"/>
          </p:nvPr>
        </p:nvSpPr>
        <p:spPr/>
        <p:txBody>
          <a:bodyPr/>
          <a:lstStyle/>
          <a:p>
            <a:r>
              <a:rPr lang="en-US" dirty="0"/>
              <a:t>The code uses the LEAP export workbook as a guide to branch paths, variables, scenarios, units, and workbook format. It then creates a LEAP import workbook that puts data into the right branches. The first major output is the baseline seed. Later outputs update the same structure as mappings, assumptions, sector inputs, and reconciliation improve.</a:t>
            </a:r>
          </a:p>
        </p:txBody>
      </p:sp>
      <p:sp>
        <p:nvSpPr>
          <p:cNvPr id="4" name="Slide Number Placeholder 3">
            <a:extLst>
              <a:ext uri="{FF2B5EF4-FFF2-40B4-BE49-F238E27FC236}">
                <a16:creationId xmlns:a16="http://schemas.microsoft.com/office/drawing/2014/main" id="{5F488E63-9FB0-5A3D-2042-9EE4489BD10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01755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Initialisation prepares demand placeholder or initial sector-fuel branches, power branches, refining, other transformation modules including transfer-related modules, supply/resources, and supporting settings such as scenarios, years, fuels, units, lifecycle profiles, time slices, and yearly shapes. The key modelling logic is that demand, transformation, and supply must calculate together as a connected balance.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uses the LEAP export workbook as a guide to branch paths, variables, scenarios, units, and workbook format. It then creates a LEAP import workbook that puts data into the right branches. The first major output is the baseline seed. Later outputs update the same structure as mappings, assumptions, sector inputs, and reconciliation improve.</a:t>
            </a:r>
          </a:p>
          <a:p>
            <a:endParaRPr lang="en-US" dirty="0"/>
          </a:p>
          <a:p>
            <a:r>
              <a:rPr lang="en-NZ" dirty="0"/>
              <a:t>When you receive an initialised model, look for strange imports, strange exports, unmet requirements, odd transformation outputs, unexpected zeroes, duplicated demand, or placeholder branches that should have been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demand and power models may not be ready at the same time, but LEAP still needs enough structure to calculate. Placeholder branches provide temporary values and interim branches help test whether transformation and supply can satisfy requirements. Once detailed models are imported, interim branches can be deleted, set to zero, or replaced.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Modellers do not need to understand every technical detail immediately, but they do need to understand the structure, know the difference between branch imports and workbook imports/exports, treat the initialised model as a starting point, check whether results make sense, look for strange imports, exports, unmet requirements, or transformation outputs, record issues clearly, and replace placeholder/interim structures with detailed sector inputs when ready.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perc.sharepoint.com/:f:/s/Outlook10/IgCSK7weSSf-SLBX6u0ClFZWAfQwnbFvZmKdgBhGi3l2Qy4?e=l8QjOy" TargetMode="External"/><Relationship Id="rId2" Type="http://schemas.openxmlformats.org/officeDocument/2006/relationships/hyperlink" Target="https://github.com/asia-pacific-energy-research-centre" TargetMode="External"/><Relationship Id="rId1" Type="http://schemas.openxmlformats.org/officeDocument/2006/relationships/slideLayout" Target="../slideLayouts/slideLayout1.xml"/><Relationship Id="rId5" Type="http://schemas.openxmlformats.org/officeDocument/2006/relationships/hyperlink" Target="https://aperc.sharepoint.com/:f:/s/Outlook10/IgCiYC5XdqjOS5-eecYmSz7GAb0A_XSaYNNOOdo6ydkpoQ8?e=b7phvu" TargetMode="External"/><Relationship Id="rId4" Type="http://schemas.openxmlformats.org/officeDocument/2006/relationships/hyperlink" Target="https://aperc.sharepoint.com/:w:/s/Outlook10/IQA77ou-Tny9RJhquFrXx-aTAWblWNPU6jYoA0ZOBFZYskw?e=HfM4xL"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theme_render/theme-1.png"/>
          <p:cNvPicPr>
            <a:picLocks noChangeAspect="1"/>
          </p:cNvPicPr>
          <p:nvPr/>
        </p:nvPicPr>
        <p:blipFill>
          <a:blip r:embed="rId3"/>
          <a:stretch>
            <a:fillRect/>
          </a:stretch>
        </p:blipFill>
        <p:spPr>
          <a:xfrm>
            <a:off x="0" y="-77637"/>
            <a:ext cx="12191695" cy="6858000"/>
          </a:xfrm>
          <a:prstGeom prst="rect">
            <a:avLst/>
          </a:prstGeom>
        </p:spPr>
      </p:pic>
      <p:sp>
        <p:nvSpPr>
          <p:cNvPr id="3" name="Text 0"/>
          <p:cNvSpPr/>
          <p:nvPr/>
        </p:nvSpPr>
        <p:spPr>
          <a:xfrm>
            <a:off x="658368" y="932688"/>
            <a:ext cx="6309360" cy="1078992"/>
          </a:xfrm>
          <a:prstGeom prst="rect">
            <a:avLst/>
          </a:prstGeom>
          <a:noFill/>
          <a:ln/>
        </p:spPr>
        <p:txBody>
          <a:bodyPr wrap="square" lIns="0" tIns="0" rIns="0" bIns="0" rtlCol="0" anchor="ctr">
            <a:normAutofit/>
          </a:bodyPr>
          <a:lstStyle/>
          <a:p>
            <a:pPr marL="0" indent="0">
              <a:buNone/>
            </a:pPr>
            <a:r>
              <a:rPr lang="en-US" sz="2500" b="1" dirty="0">
                <a:solidFill>
                  <a:srgbClr val="004B8D"/>
                </a:solidFill>
                <a:latin typeface="Aptos Display" pitchFamily="34" charset="0"/>
                <a:ea typeface="Aptos Display" pitchFamily="34" charset="-122"/>
                <a:cs typeface="Aptos Display" pitchFamily="34" charset="-120"/>
              </a:rPr>
              <a:t>LEAP Initialisation</a:t>
            </a:r>
            <a:endParaRPr lang="en-US" sz="2500" dirty="0"/>
          </a:p>
          <a:p>
            <a:pPr marL="0" indent="0">
              <a:buNone/>
            </a:pPr>
            <a:r>
              <a:rPr lang="en-US" sz="2500" b="1" dirty="0">
                <a:solidFill>
                  <a:srgbClr val="004B8D"/>
                </a:solidFill>
                <a:latin typeface="Aptos Display" pitchFamily="34" charset="0"/>
                <a:ea typeface="Aptos Display" pitchFamily="34" charset="-122"/>
                <a:cs typeface="Aptos Display" pitchFamily="34" charset="-120"/>
              </a:rPr>
              <a:t>Modellers Meeting</a:t>
            </a:r>
            <a:endParaRPr lang="en-US" sz="2500" dirty="0"/>
          </a:p>
        </p:txBody>
      </p:sp>
      <p:sp>
        <p:nvSpPr>
          <p:cNvPr id="5" name="Text 2"/>
          <p:cNvSpPr/>
          <p:nvPr/>
        </p:nvSpPr>
        <p:spPr>
          <a:xfrm>
            <a:off x="457962" y="2761488"/>
            <a:ext cx="6355080" cy="420624"/>
          </a:xfrm>
          <a:prstGeom prst="rect">
            <a:avLst/>
          </a:prstGeom>
          <a:solidFill>
            <a:srgbClr val="EEF8FC"/>
          </a:solidFill>
          <a:ln w="12700">
            <a:solidFill>
              <a:srgbClr val="00A8E8"/>
            </a:solidFill>
          </a:ln>
        </p:spPr>
        <p:txBody>
          <a:bodyPr wrap="square" lIns="889" tIns="889" rIns="889" bIns="889" rtlCol="0" anchor="ctr"/>
          <a:lstStyle/>
          <a:p>
            <a:pPr marL="0" indent="0">
              <a:buNone/>
            </a:pPr>
            <a:r>
              <a:rPr lang="en-US" sz="1600" b="1" dirty="0">
                <a:solidFill>
                  <a:srgbClr val="004B8D"/>
                </a:solidFill>
                <a:latin typeface="Aptos" pitchFamily="34" charset="0"/>
                <a:ea typeface="Aptos" pitchFamily="34" charset="-122"/>
                <a:cs typeface="Aptos" pitchFamily="34" charset="-120"/>
              </a:rPr>
              <a:t>  Purpose: explain the structure and workflow, not full training.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406508-B563-6892-A0FA-E325C21EC99D}"/>
              </a:ext>
            </a:extLst>
          </p:cNvPr>
          <p:cNvSpPr txBox="1"/>
          <p:nvPr/>
        </p:nvSpPr>
        <p:spPr>
          <a:xfrm>
            <a:off x="1168400" y="1739900"/>
            <a:ext cx="8191500" cy="2677656"/>
          </a:xfrm>
          <a:prstGeom prst="rect">
            <a:avLst/>
          </a:prstGeom>
          <a:noFill/>
        </p:spPr>
        <p:txBody>
          <a:bodyPr wrap="square" rtlCol="0">
            <a:spAutoFit/>
          </a:bodyPr>
          <a:lstStyle/>
          <a:p>
            <a:r>
              <a:rPr lang="en-NZ" sz="2800" b="1" dirty="0"/>
              <a:t>Related resources:</a:t>
            </a:r>
          </a:p>
          <a:p>
            <a:pPr marL="457200" indent="-457200">
              <a:buFont typeface="Arial" panose="020B0604020202020204" pitchFamily="34" charset="0"/>
              <a:buChar char="•"/>
            </a:pPr>
            <a:r>
              <a:rPr lang="en-NZ" sz="2800" dirty="0" err="1"/>
              <a:t>Github</a:t>
            </a:r>
            <a:r>
              <a:rPr lang="en-NZ" sz="2800" dirty="0"/>
              <a:t>: </a:t>
            </a:r>
            <a:r>
              <a:rPr lang="en-NZ" sz="2800" dirty="0">
                <a:hlinkClick r:id="rId2"/>
              </a:rPr>
              <a:t>https://github.com/asia-pacific-energy-research-centre</a:t>
            </a:r>
            <a:endParaRPr lang="en-NZ" sz="2800" dirty="0"/>
          </a:p>
          <a:p>
            <a:pPr marL="457200" indent="-457200">
              <a:buFont typeface="Arial" panose="020B0604020202020204" pitchFamily="34" charset="0"/>
              <a:buChar char="•"/>
            </a:pPr>
            <a:r>
              <a:rPr lang="en-NZ" sz="2800" dirty="0">
                <a:hlinkClick r:id="rId3"/>
              </a:rPr>
              <a:t>Guides and notes:</a:t>
            </a:r>
            <a:r>
              <a:rPr lang="en-NZ" sz="2800" dirty="0"/>
              <a:t> e.g.</a:t>
            </a:r>
            <a:r>
              <a:rPr lang="en-NZ" sz="2800" dirty="0">
                <a:hlinkClick r:id="rId3"/>
              </a:rPr>
              <a:t> </a:t>
            </a:r>
            <a:r>
              <a:rPr lang="en-NZ" sz="2800" dirty="0">
                <a:hlinkClick r:id="rId4"/>
              </a:rPr>
              <a:t>LEAP initialisation guide.docx</a:t>
            </a:r>
            <a:endParaRPr lang="en-NZ" sz="2800" dirty="0"/>
          </a:p>
          <a:p>
            <a:pPr marL="457200" indent="-457200">
              <a:buFont typeface="Arial" panose="020B0604020202020204" pitchFamily="34" charset="0"/>
              <a:buChar char="•"/>
            </a:pPr>
            <a:r>
              <a:rPr lang="en-NZ" sz="2800" dirty="0">
                <a:hlinkClick r:id="rId5"/>
              </a:rPr>
              <a:t>Leap clean slate models</a:t>
            </a:r>
            <a:endParaRPr lang="en-NZ" sz="2800" dirty="0"/>
          </a:p>
        </p:txBody>
      </p:sp>
    </p:spTree>
    <p:extLst>
      <p:ext uri="{BB962C8B-B14F-4D97-AF65-F5344CB8AC3E}">
        <p14:creationId xmlns:p14="http://schemas.microsoft.com/office/powerpoint/2010/main" val="3437970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02</a:t>
            </a:r>
            <a:endParaRPr lang="en-US" sz="560" dirty="0"/>
          </a:p>
        </p:txBody>
      </p:sp>
      <p:sp>
        <p:nvSpPr>
          <p:cNvPr id="4" name="Text 1"/>
          <p:cNvSpPr/>
          <p:nvPr/>
        </p:nvSpPr>
        <p:spPr>
          <a:xfrm>
            <a:off x="658368" y="384048"/>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PURPOSE</a:t>
            </a:r>
            <a:endParaRPr lang="en-US" sz="680" dirty="0"/>
          </a:p>
        </p:txBody>
      </p:sp>
      <p:sp>
        <p:nvSpPr>
          <p:cNvPr id="5" name="Text 2"/>
          <p:cNvSpPr/>
          <p:nvPr/>
        </p:nvSpPr>
        <p:spPr>
          <a:xfrm>
            <a:off x="658368" y="621792"/>
            <a:ext cx="8595360" cy="438912"/>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Setting the scene</a:t>
            </a:r>
            <a:endParaRPr lang="en-US" sz="2400" dirty="0"/>
          </a:p>
        </p:txBody>
      </p:sp>
      <p:sp>
        <p:nvSpPr>
          <p:cNvPr id="6" name="Text 3"/>
          <p:cNvSpPr/>
          <p:nvPr/>
        </p:nvSpPr>
        <p:spPr>
          <a:xfrm>
            <a:off x="667512" y="1115568"/>
            <a:ext cx="9509760" cy="292608"/>
          </a:xfrm>
          <a:prstGeom prst="rect">
            <a:avLst/>
          </a:prstGeom>
          <a:noFill/>
          <a:ln/>
        </p:spPr>
        <p:txBody>
          <a:bodyPr wrap="square" lIns="0" tIns="0" rIns="0" bIns="0" rtlCol="0" anchor="ctr">
            <a:normAutofit/>
          </a:bodyPr>
          <a:lstStyle/>
          <a:p>
            <a:pPr marL="0" indent="0">
              <a:buNone/>
            </a:pPr>
            <a:r>
              <a:rPr lang="en-US" sz="1600" dirty="0">
                <a:solidFill>
                  <a:srgbClr val="243447"/>
                </a:solidFill>
                <a:latin typeface="Aptos" pitchFamily="34" charset="0"/>
                <a:ea typeface="Aptos" pitchFamily="34" charset="-122"/>
                <a:cs typeface="Aptos" pitchFamily="34" charset="-120"/>
              </a:rPr>
              <a:t>These are the major steps. </a:t>
            </a:r>
            <a:r>
              <a:rPr lang="en-US" sz="1600" dirty="0" err="1">
                <a:solidFill>
                  <a:srgbClr val="243447"/>
                </a:solidFill>
                <a:latin typeface="Aptos" pitchFamily="34" charset="0"/>
                <a:ea typeface="Aptos" pitchFamily="34" charset="-122"/>
                <a:cs typeface="Aptos" pitchFamily="34" charset="-120"/>
              </a:rPr>
              <a:t>Initialisation</a:t>
            </a:r>
            <a:r>
              <a:rPr lang="en-US" sz="1600" dirty="0">
                <a:solidFill>
                  <a:srgbClr val="243447"/>
                </a:solidFill>
                <a:latin typeface="Aptos" pitchFamily="34" charset="0"/>
                <a:ea typeface="Aptos" pitchFamily="34" charset="-122"/>
                <a:cs typeface="Aptos" pitchFamily="34" charset="-120"/>
              </a:rPr>
              <a:t> creates the working starting point for each economy.</a:t>
            </a:r>
            <a:endParaRPr lang="en-US" sz="1600" dirty="0"/>
          </a:p>
        </p:txBody>
      </p:sp>
      <p:sp>
        <p:nvSpPr>
          <p:cNvPr id="7" name="Shape 4"/>
          <p:cNvSpPr/>
          <p:nvPr/>
        </p:nvSpPr>
        <p:spPr>
          <a:xfrm>
            <a:off x="3163824" y="2880360"/>
            <a:ext cx="1060704" cy="0"/>
          </a:xfrm>
          <a:prstGeom prst="line">
            <a:avLst/>
          </a:prstGeom>
          <a:noFill/>
          <a:ln w="19050">
            <a:solidFill>
              <a:srgbClr val="00A8E8"/>
            </a:solidFill>
            <a:prstDash val="solid"/>
            <a:tailEnd type="triangle"/>
          </a:ln>
        </p:spPr>
        <p:txBody>
          <a:bodyPr/>
          <a:lstStyle/>
          <a:p>
            <a:endParaRPr lang="en-NZ"/>
          </a:p>
        </p:txBody>
      </p:sp>
      <p:sp>
        <p:nvSpPr>
          <p:cNvPr id="8" name="Shape 5"/>
          <p:cNvSpPr/>
          <p:nvPr/>
        </p:nvSpPr>
        <p:spPr>
          <a:xfrm>
            <a:off x="5596128" y="2880360"/>
            <a:ext cx="1060704" cy="0"/>
          </a:xfrm>
          <a:prstGeom prst="line">
            <a:avLst/>
          </a:prstGeom>
          <a:noFill/>
          <a:ln w="19050">
            <a:solidFill>
              <a:srgbClr val="00A8E8"/>
            </a:solidFill>
            <a:prstDash val="solid"/>
            <a:tailEnd type="triangle"/>
          </a:ln>
        </p:spPr>
        <p:txBody>
          <a:bodyPr/>
          <a:lstStyle/>
          <a:p>
            <a:endParaRPr lang="en-NZ"/>
          </a:p>
        </p:txBody>
      </p:sp>
      <p:sp>
        <p:nvSpPr>
          <p:cNvPr id="9" name="Shape 6"/>
          <p:cNvSpPr/>
          <p:nvPr/>
        </p:nvSpPr>
        <p:spPr>
          <a:xfrm>
            <a:off x="8028432" y="2880360"/>
            <a:ext cx="1060704" cy="0"/>
          </a:xfrm>
          <a:prstGeom prst="line">
            <a:avLst/>
          </a:prstGeom>
          <a:noFill/>
          <a:ln w="19050">
            <a:solidFill>
              <a:srgbClr val="00A8E8"/>
            </a:solidFill>
            <a:prstDash val="solid"/>
            <a:tailEnd type="triangle"/>
          </a:ln>
        </p:spPr>
        <p:txBody>
          <a:bodyPr/>
          <a:lstStyle/>
          <a:p>
            <a:endParaRPr lang="en-NZ"/>
          </a:p>
        </p:txBody>
      </p:sp>
      <p:sp>
        <p:nvSpPr>
          <p:cNvPr id="10" name="Text 7"/>
          <p:cNvSpPr/>
          <p:nvPr/>
        </p:nvSpPr>
        <p:spPr>
          <a:xfrm>
            <a:off x="1051560" y="2331720"/>
            <a:ext cx="1874520"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800" dirty="0">
                <a:solidFill>
                  <a:srgbClr val="004B8D"/>
                </a:solidFill>
                <a:latin typeface="Aptos" pitchFamily="34" charset="0"/>
                <a:ea typeface="Aptos" pitchFamily="34" charset="-122"/>
                <a:cs typeface="Aptos" pitchFamily="34" charset="-120"/>
              </a:rPr>
              <a:t>Clean slate</a:t>
            </a:r>
            <a:endParaRPr lang="en-US" sz="1800" dirty="0"/>
          </a:p>
          <a:p>
            <a:pPr marL="0" indent="0" algn="ctr">
              <a:buNone/>
            </a:pPr>
            <a:r>
              <a:rPr lang="en-US" sz="1800" dirty="0">
                <a:solidFill>
                  <a:srgbClr val="004B8D"/>
                </a:solidFill>
                <a:latin typeface="Aptos" pitchFamily="34" charset="0"/>
                <a:ea typeface="Aptos" pitchFamily="34" charset="-122"/>
                <a:cs typeface="Aptos" pitchFamily="34" charset="-120"/>
              </a:rPr>
              <a:t>area</a:t>
            </a:r>
            <a:endParaRPr lang="en-US" sz="1800" dirty="0"/>
          </a:p>
        </p:txBody>
      </p:sp>
      <p:sp>
        <p:nvSpPr>
          <p:cNvPr id="11" name="Text 8"/>
          <p:cNvSpPr/>
          <p:nvPr/>
        </p:nvSpPr>
        <p:spPr>
          <a:xfrm>
            <a:off x="4526280" y="2331720"/>
            <a:ext cx="1874520"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2000" b="1" dirty="0">
                <a:solidFill>
                  <a:srgbClr val="004B8D"/>
                </a:solidFill>
                <a:latin typeface="Aptos" pitchFamily="34" charset="0"/>
                <a:ea typeface="Aptos" pitchFamily="34" charset="-122"/>
                <a:cs typeface="Aptos" pitchFamily="34" charset="-120"/>
              </a:rPr>
              <a:t>Initialised</a:t>
            </a:r>
            <a:endParaRPr lang="en-US" sz="2000" b="1" dirty="0"/>
          </a:p>
          <a:p>
            <a:pPr marL="0" indent="0" algn="ctr">
              <a:buNone/>
            </a:pPr>
            <a:r>
              <a:rPr lang="en-US" sz="2000" b="1" dirty="0">
                <a:solidFill>
                  <a:srgbClr val="004B8D"/>
                </a:solidFill>
                <a:latin typeface="Aptos" pitchFamily="34" charset="0"/>
                <a:ea typeface="Aptos" pitchFamily="34" charset="-122"/>
                <a:cs typeface="Aptos" pitchFamily="34" charset="-120"/>
              </a:rPr>
              <a:t>area</a:t>
            </a:r>
            <a:endParaRPr lang="en-US" sz="2000" b="1" dirty="0"/>
          </a:p>
        </p:txBody>
      </p:sp>
      <p:sp>
        <p:nvSpPr>
          <p:cNvPr id="12" name="Text 9"/>
          <p:cNvSpPr/>
          <p:nvPr/>
        </p:nvSpPr>
        <p:spPr>
          <a:xfrm>
            <a:off x="6967728" y="2331720"/>
            <a:ext cx="1874520"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800" dirty="0">
                <a:solidFill>
                  <a:srgbClr val="004B8D"/>
                </a:solidFill>
                <a:latin typeface="Aptos" pitchFamily="34" charset="0"/>
                <a:ea typeface="Aptos" pitchFamily="34" charset="-122"/>
                <a:cs typeface="Aptos" pitchFamily="34" charset="-120"/>
              </a:rPr>
              <a:t>Working</a:t>
            </a:r>
            <a:endParaRPr lang="en-US" sz="1800" dirty="0"/>
          </a:p>
          <a:p>
            <a:pPr marL="0" indent="0" algn="ctr">
              <a:buNone/>
            </a:pPr>
            <a:r>
              <a:rPr lang="en-US" sz="1800" dirty="0">
                <a:solidFill>
                  <a:srgbClr val="004B8D"/>
                </a:solidFill>
                <a:latin typeface="Aptos" pitchFamily="34" charset="0"/>
                <a:ea typeface="Aptos" pitchFamily="34" charset="-122"/>
                <a:cs typeface="Aptos" pitchFamily="34" charset="-120"/>
              </a:rPr>
              <a:t>area</a:t>
            </a:r>
            <a:endParaRPr lang="en-US" sz="1800" dirty="0"/>
          </a:p>
        </p:txBody>
      </p:sp>
      <p:sp>
        <p:nvSpPr>
          <p:cNvPr id="13" name="Text 10"/>
          <p:cNvSpPr/>
          <p:nvPr/>
        </p:nvSpPr>
        <p:spPr>
          <a:xfrm>
            <a:off x="9390888" y="2331720"/>
            <a:ext cx="1874520"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800" dirty="0">
                <a:solidFill>
                  <a:srgbClr val="004B8D"/>
                </a:solidFill>
                <a:latin typeface="Aptos" pitchFamily="34" charset="0"/>
                <a:ea typeface="Aptos" pitchFamily="34" charset="-122"/>
                <a:cs typeface="Aptos" pitchFamily="34" charset="-120"/>
              </a:rPr>
              <a:t>Final results</a:t>
            </a:r>
            <a:endParaRPr lang="en-US" sz="1800" dirty="0"/>
          </a:p>
        </p:txBody>
      </p:sp>
      <p:sp>
        <p:nvSpPr>
          <p:cNvPr id="14" name="Text 11"/>
          <p:cNvSpPr/>
          <p:nvPr/>
        </p:nvSpPr>
        <p:spPr>
          <a:xfrm>
            <a:off x="4315968" y="3639312"/>
            <a:ext cx="2286000" cy="676656"/>
          </a:xfrm>
          <a:prstGeom prst="rect">
            <a:avLst/>
          </a:prstGeom>
          <a:noFill/>
          <a:ln/>
        </p:spPr>
        <p:txBody>
          <a:bodyPr wrap="square" lIns="0" tIns="0" rIns="0" bIns="0" rtlCol="0" anchor="ctr">
            <a:noAutofit/>
          </a:bodyPr>
          <a:lstStyle/>
          <a:p>
            <a:pPr marL="0" indent="0" algn="ctr">
              <a:buNone/>
            </a:pPr>
            <a:r>
              <a:rPr lang="en-US" sz="1600" b="1" dirty="0">
                <a:solidFill>
                  <a:srgbClr val="6B778D"/>
                </a:solidFill>
                <a:latin typeface="Aptos" pitchFamily="34" charset="0"/>
                <a:ea typeface="Aptos" pitchFamily="34" charset="-122"/>
                <a:cs typeface="Aptos" pitchFamily="34" charset="-120"/>
              </a:rPr>
              <a:t>Branch imports</a:t>
            </a:r>
            <a:endParaRPr lang="en-US" sz="1600" b="1" dirty="0"/>
          </a:p>
          <a:p>
            <a:pPr marL="0" indent="0" algn="ctr">
              <a:buNone/>
            </a:pPr>
            <a:r>
              <a:rPr lang="en-US" sz="1600" b="1" dirty="0">
                <a:solidFill>
                  <a:srgbClr val="6B778D"/>
                </a:solidFill>
                <a:latin typeface="Aptos" pitchFamily="34" charset="0"/>
                <a:ea typeface="Aptos" pitchFamily="34" charset="-122"/>
                <a:cs typeface="Aptos" pitchFamily="34" charset="-120"/>
              </a:rPr>
              <a:t>Import workbooks</a:t>
            </a:r>
            <a:endParaRPr lang="en-US" sz="1600" b="1" dirty="0"/>
          </a:p>
          <a:p>
            <a:pPr marL="0" indent="0" algn="ctr">
              <a:buNone/>
            </a:pPr>
            <a:r>
              <a:rPr lang="en-US" sz="1600" b="1" dirty="0">
                <a:solidFill>
                  <a:srgbClr val="6B778D"/>
                </a:solidFill>
                <a:latin typeface="Aptos" pitchFamily="34" charset="0"/>
                <a:ea typeface="Aptos" pitchFamily="34" charset="-122"/>
                <a:cs typeface="Aptos" pitchFamily="34" charset="-120"/>
              </a:rPr>
              <a:t>Settings/rules</a:t>
            </a:r>
          </a:p>
          <a:p>
            <a:pPr marL="0" indent="0" algn="ctr">
              <a:buNone/>
            </a:pPr>
            <a:r>
              <a:rPr lang="en-US" sz="1600" b="1" dirty="0">
                <a:solidFill>
                  <a:srgbClr val="6B778D"/>
                </a:solidFill>
                <a:latin typeface="Aptos" pitchFamily="34" charset="0"/>
              </a:rPr>
              <a:t>Reconciliation</a:t>
            </a:r>
            <a:endParaRPr lang="en-US" sz="1600" b="1" dirty="0"/>
          </a:p>
        </p:txBody>
      </p:sp>
      <p:sp>
        <p:nvSpPr>
          <p:cNvPr id="15" name="Text 12"/>
          <p:cNvSpPr/>
          <p:nvPr/>
        </p:nvSpPr>
        <p:spPr>
          <a:xfrm>
            <a:off x="932688" y="5074920"/>
            <a:ext cx="10332720" cy="475488"/>
          </a:xfrm>
          <a:prstGeom prst="rect">
            <a:avLst/>
          </a:prstGeom>
          <a:solidFill>
            <a:srgbClr val="FFFFFF">
              <a:alpha val="96000"/>
            </a:srgbClr>
          </a:solidFill>
          <a:ln w="8890">
            <a:solidFill>
              <a:srgbClr val="B7DFF2"/>
            </a:solidFill>
          </a:ln>
        </p:spPr>
        <p:txBody>
          <a:bodyPr wrap="square" lIns="762" tIns="762" rIns="762" bIns="762" rtlCol="0" anchor="ctr">
            <a:normAutofit/>
          </a:bodyPr>
          <a:lstStyle/>
          <a:p>
            <a:pPr marL="0" indent="0" algn="ctr">
              <a:buNone/>
            </a:pPr>
            <a:r>
              <a:rPr lang="en-US" sz="1800" b="1" dirty="0">
                <a:solidFill>
                  <a:srgbClr val="004B8D"/>
                </a:solidFill>
                <a:latin typeface="Aptos Display" pitchFamily="34" charset="0"/>
                <a:ea typeface="Aptos Display" pitchFamily="34" charset="-122"/>
                <a:cs typeface="Aptos Display" pitchFamily="34" charset="-120"/>
              </a:rPr>
              <a:t>The initialised model is a structured starting point, not a final scenario result.</a:t>
            </a:r>
            <a:endParaRPr lang="en-US" sz="1800" dirty="0"/>
          </a:p>
        </p:txBody>
      </p:sp>
      <p:sp>
        <p:nvSpPr>
          <p:cNvPr id="16" name="Text 11">
            <a:extLst>
              <a:ext uri="{FF2B5EF4-FFF2-40B4-BE49-F238E27FC236}">
                <a16:creationId xmlns:a16="http://schemas.microsoft.com/office/drawing/2014/main" id="{6C1ADA8D-0125-FE66-FA61-B5A35F6E3CA9}"/>
              </a:ext>
            </a:extLst>
          </p:cNvPr>
          <p:cNvSpPr/>
          <p:nvPr/>
        </p:nvSpPr>
        <p:spPr>
          <a:xfrm>
            <a:off x="6601968" y="3676651"/>
            <a:ext cx="2286000" cy="676656"/>
          </a:xfrm>
          <a:prstGeom prst="rect">
            <a:avLst/>
          </a:prstGeom>
          <a:noFill/>
          <a:ln/>
        </p:spPr>
        <p:txBody>
          <a:bodyPr wrap="square" lIns="0" tIns="0" rIns="0" bIns="0" rtlCol="0" anchor="ctr">
            <a:noAutofit/>
          </a:bodyPr>
          <a:lstStyle/>
          <a:p>
            <a:pPr marL="0" indent="0" algn="ctr">
              <a:buNone/>
            </a:pPr>
            <a:r>
              <a:rPr lang="en-US" sz="1600" dirty="0">
                <a:solidFill>
                  <a:srgbClr val="6B778D"/>
                </a:solidFill>
                <a:latin typeface="Aptos" pitchFamily="34" charset="0"/>
                <a:ea typeface="Aptos" pitchFamily="34" charset="-122"/>
                <a:cs typeface="Aptos" pitchFamily="34" charset="-120"/>
              </a:rPr>
              <a:t>Assumptions</a:t>
            </a:r>
          </a:p>
          <a:p>
            <a:pPr marL="0" indent="0" algn="ctr">
              <a:buNone/>
            </a:pPr>
            <a:r>
              <a:rPr lang="en-US" sz="1600" dirty="0">
                <a:solidFill>
                  <a:srgbClr val="6B778D"/>
                </a:solidFill>
                <a:latin typeface="Aptos" pitchFamily="34" charset="0"/>
              </a:rPr>
              <a:t>Researcher work</a:t>
            </a:r>
          </a:p>
          <a:p>
            <a:pPr marL="0" indent="0" algn="ctr">
              <a:buNone/>
            </a:pPr>
            <a:r>
              <a:rPr lang="en-US" sz="1600" dirty="0">
                <a:solidFill>
                  <a:srgbClr val="6B778D"/>
                </a:solidFill>
                <a:latin typeface="Aptos" pitchFamily="34" charset="0"/>
              </a:rPr>
              <a:t>Iteration</a:t>
            </a:r>
            <a:endParaRPr lang="en-US" sz="1600" dirty="0"/>
          </a:p>
        </p:txBody>
      </p:sp>
      <p:sp>
        <p:nvSpPr>
          <p:cNvPr id="17" name="Text 11">
            <a:extLst>
              <a:ext uri="{FF2B5EF4-FFF2-40B4-BE49-F238E27FC236}">
                <a16:creationId xmlns:a16="http://schemas.microsoft.com/office/drawing/2014/main" id="{D93AC53A-E1C2-5797-09EE-1D7D21B012C8}"/>
              </a:ext>
            </a:extLst>
          </p:cNvPr>
          <p:cNvSpPr/>
          <p:nvPr/>
        </p:nvSpPr>
        <p:spPr>
          <a:xfrm>
            <a:off x="9089136" y="3648076"/>
            <a:ext cx="2286000" cy="676656"/>
          </a:xfrm>
          <a:prstGeom prst="rect">
            <a:avLst/>
          </a:prstGeom>
          <a:noFill/>
          <a:ln/>
        </p:spPr>
        <p:txBody>
          <a:bodyPr wrap="square" lIns="0" tIns="0" rIns="0" bIns="0" rtlCol="0" anchor="ctr">
            <a:normAutofit/>
          </a:bodyPr>
          <a:lstStyle/>
          <a:p>
            <a:pPr marL="0" indent="0" algn="ctr">
              <a:buNone/>
            </a:pPr>
            <a:r>
              <a:rPr lang="en-US" sz="1600" dirty="0" err="1">
                <a:solidFill>
                  <a:srgbClr val="6B778D"/>
                </a:solidFill>
                <a:latin typeface="Aptos" pitchFamily="34" charset="0"/>
                <a:ea typeface="Aptos" pitchFamily="34" charset="-122"/>
                <a:cs typeface="Aptos" pitchFamily="34" charset="-120"/>
              </a:rPr>
              <a:t>Visualisations</a:t>
            </a:r>
            <a:endParaRPr lang="en-US" sz="1600" dirty="0">
              <a:solidFill>
                <a:srgbClr val="6B778D"/>
              </a:solidFill>
              <a:latin typeface="Aptos" pitchFamily="34" charset="0"/>
              <a:ea typeface="Aptos" pitchFamily="34" charset="-122"/>
              <a:cs typeface="Aptos" pitchFamily="34" charset="-120"/>
            </a:endParaRPr>
          </a:p>
          <a:p>
            <a:pPr marL="0" indent="0" algn="ctr">
              <a:buNone/>
            </a:pPr>
            <a:r>
              <a:rPr lang="en-US" sz="1600" dirty="0">
                <a:solidFill>
                  <a:srgbClr val="6B778D"/>
                </a:solidFill>
                <a:latin typeface="Aptos" pitchFamily="34" charset="0"/>
              </a:rPr>
              <a:t>Report writing</a:t>
            </a:r>
            <a:endParaRPr lang="en-US" sz="1600" dirty="0"/>
          </a:p>
        </p:txBody>
      </p:sp>
      <p:sp>
        <p:nvSpPr>
          <p:cNvPr id="18" name="Text 11">
            <a:extLst>
              <a:ext uri="{FF2B5EF4-FFF2-40B4-BE49-F238E27FC236}">
                <a16:creationId xmlns:a16="http://schemas.microsoft.com/office/drawing/2014/main" id="{09EC8132-D4AF-4A94-F287-97E267FEF689}"/>
              </a:ext>
            </a:extLst>
          </p:cNvPr>
          <p:cNvSpPr/>
          <p:nvPr/>
        </p:nvSpPr>
        <p:spPr>
          <a:xfrm>
            <a:off x="786384" y="3668268"/>
            <a:ext cx="2286000" cy="676656"/>
          </a:xfrm>
          <a:prstGeom prst="rect">
            <a:avLst/>
          </a:prstGeom>
          <a:noFill/>
          <a:ln/>
        </p:spPr>
        <p:txBody>
          <a:bodyPr wrap="square" lIns="0" tIns="0" rIns="0" bIns="0" rtlCol="0" anchor="ctr">
            <a:normAutofit/>
          </a:bodyPr>
          <a:lstStyle/>
          <a:p>
            <a:pPr marL="0" indent="0" algn="ctr">
              <a:buNone/>
            </a:pPr>
            <a:r>
              <a:rPr lang="en-US" sz="1600" dirty="0">
                <a:solidFill>
                  <a:srgbClr val="6B778D"/>
                </a:solidFill>
                <a:latin typeface="Aptos" pitchFamily="34" charset="0"/>
                <a:ea typeface="Aptos" pitchFamily="34" charset="-122"/>
                <a:cs typeface="Aptos" pitchFamily="34" charset="-120"/>
              </a:rPr>
              <a:t>Model structure and development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6CBA120-141F-F1F3-CBE3-D9E655626B3B}"/>
              </a:ext>
            </a:extLst>
          </p:cNvPr>
          <p:cNvGrpSpPr/>
          <p:nvPr/>
        </p:nvGrpSpPr>
        <p:grpSpPr>
          <a:xfrm>
            <a:off x="409194" y="1465898"/>
            <a:ext cx="9011412" cy="3429203"/>
            <a:chOff x="4679061" y="2003011"/>
            <a:chExt cx="7448439" cy="2421366"/>
          </a:xfrm>
        </p:grpSpPr>
        <p:pic>
          <p:nvPicPr>
            <p:cNvPr id="3" name="Picture 2" descr="The image appears to be a Microsoft Excel spreadsheet, displaying various data tables, formulas, and formatting options.&#10;&#10;AI-generated content may be incorrect.">
              <a:extLst>
                <a:ext uri="{FF2B5EF4-FFF2-40B4-BE49-F238E27FC236}">
                  <a16:creationId xmlns:a16="http://schemas.microsoft.com/office/drawing/2014/main" id="{4E384A8F-E2C1-3991-8E46-F65D53EF3778}"/>
                </a:ext>
              </a:extLst>
            </p:cNvPr>
            <p:cNvPicPr>
              <a:picLocks noChangeAspect="1"/>
            </p:cNvPicPr>
            <p:nvPr/>
          </p:nvPicPr>
          <p:blipFill>
            <a:blip r:embed="rId2"/>
            <a:srcRect t="41842"/>
            <a:stretch>
              <a:fillRect/>
            </a:stretch>
          </p:blipFill>
          <p:spPr>
            <a:xfrm>
              <a:off x="4684014" y="2212848"/>
              <a:ext cx="7443486" cy="2211529"/>
            </a:xfrm>
            <a:prstGeom prst="rect">
              <a:avLst/>
            </a:prstGeom>
          </p:spPr>
        </p:pic>
        <p:pic>
          <p:nvPicPr>
            <p:cNvPr id="4" name="Picture 3">
              <a:extLst>
                <a:ext uri="{FF2B5EF4-FFF2-40B4-BE49-F238E27FC236}">
                  <a16:creationId xmlns:a16="http://schemas.microsoft.com/office/drawing/2014/main" id="{EE138E76-E815-0868-BB1A-1DBFA59DA91D}"/>
                </a:ext>
              </a:extLst>
            </p:cNvPr>
            <p:cNvPicPr>
              <a:picLocks noChangeAspect="1"/>
            </p:cNvPicPr>
            <p:nvPr/>
          </p:nvPicPr>
          <p:blipFill>
            <a:blip r:embed="rId2"/>
            <a:srcRect b="94564"/>
            <a:stretch>
              <a:fillRect/>
            </a:stretch>
          </p:blipFill>
          <p:spPr>
            <a:xfrm>
              <a:off x="4679061" y="2003011"/>
              <a:ext cx="7443486" cy="206707"/>
            </a:xfrm>
            <a:prstGeom prst="rect">
              <a:avLst/>
            </a:prstGeom>
          </p:spPr>
        </p:pic>
      </p:grpSp>
      <p:pic>
        <p:nvPicPr>
          <p:cNvPr id="5" name="Picture 4" descr="The image shows a user interface of an analytical tool with various tabs and options for data manipulation and visualization.&#10;&#10;AI-generated content may be incorrect.">
            <a:extLst>
              <a:ext uri="{FF2B5EF4-FFF2-40B4-BE49-F238E27FC236}">
                <a16:creationId xmlns:a16="http://schemas.microsoft.com/office/drawing/2014/main" id="{4721A075-8B74-4DF8-DFC7-C997048B2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3175" y="2366011"/>
            <a:ext cx="5304853" cy="3800678"/>
          </a:xfrm>
          <a:prstGeom prst="rect">
            <a:avLst/>
          </a:prstGeom>
        </p:spPr>
      </p:pic>
      <p:sp>
        <p:nvSpPr>
          <p:cNvPr id="7" name="TextBox 6">
            <a:extLst>
              <a:ext uri="{FF2B5EF4-FFF2-40B4-BE49-F238E27FC236}">
                <a16:creationId xmlns:a16="http://schemas.microsoft.com/office/drawing/2014/main" id="{068B4475-FE96-C705-222A-95EEDD7E4DD5}"/>
              </a:ext>
            </a:extLst>
          </p:cNvPr>
          <p:cNvSpPr txBox="1"/>
          <p:nvPr/>
        </p:nvSpPr>
        <p:spPr>
          <a:xfrm>
            <a:off x="-1233534" y="565176"/>
            <a:ext cx="8772525" cy="646331"/>
          </a:xfrm>
          <a:prstGeom prst="rect">
            <a:avLst/>
          </a:prstGeom>
          <a:noFill/>
        </p:spPr>
        <p:txBody>
          <a:bodyPr wrap="square">
            <a:spAutoFit/>
          </a:bodyPr>
          <a:lstStyle/>
          <a:p>
            <a:pPr marL="0" indent="0" algn="ctr">
              <a:buNone/>
            </a:pPr>
            <a:r>
              <a:rPr lang="en-US" sz="3600" b="1" dirty="0">
                <a:solidFill>
                  <a:srgbClr val="004B8D"/>
                </a:solidFill>
                <a:latin typeface="Aptos" pitchFamily="34" charset="0"/>
                <a:ea typeface="Aptos" pitchFamily="34" charset="-122"/>
                <a:cs typeface="Aptos" pitchFamily="34" charset="-120"/>
              </a:rPr>
              <a:t>Import workbook</a:t>
            </a:r>
            <a:endParaRPr lang="en-US" sz="3600" dirty="0"/>
          </a:p>
        </p:txBody>
      </p:sp>
      <p:sp>
        <p:nvSpPr>
          <p:cNvPr id="8" name="TextBox 7">
            <a:extLst>
              <a:ext uri="{FF2B5EF4-FFF2-40B4-BE49-F238E27FC236}">
                <a16:creationId xmlns:a16="http://schemas.microsoft.com/office/drawing/2014/main" id="{0E74AC6E-326B-BC40-6B83-F4FD3E961ABF}"/>
              </a:ext>
            </a:extLst>
          </p:cNvPr>
          <p:cNvSpPr txBox="1"/>
          <p:nvPr/>
        </p:nvSpPr>
        <p:spPr>
          <a:xfrm>
            <a:off x="-1421166" y="114049"/>
            <a:ext cx="8772525" cy="461665"/>
          </a:xfrm>
          <a:prstGeom prst="rect">
            <a:avLst/>
          </a:prstGeom>
          <a:noFill/>
        </p:spPr>
        <p:txBody>
          <a:bodyPr wrap="square">
            <a:spAutoFit/>
          </a:bodyPr>
          <a:lstStyle/>
          <a:p>
            <a:pPr marL="0" indent="0" algn="ctr">
              <a:buNone/>
            </a:pPr>
            <a:r>
              <a:rPr lang="en-US" sz="2400" b="1" dirty="0">
                <a:solidFill>
                  <a:srgbClr val="004B8D"/>
                </a:solidFill>
                <a:latin typeface="Aptos" pitchFamily="34" charset="0"/>
                <a:ea typeface="Aptos" pitchFamily="34" charset="-122"/>
                <a:cs typeface="Aptos" pitchFamily="34" charset="-120"/>
              </a:rPr>
              <a:t>Introducing some common processes:</a:t>
            </a:r>
            <a:endParaRPr lang="en-US" sz="2400" dirty="0"/>
          </a:p>
        </p:txBody>
      </p:sp>
      <p:sp>
        <p:nvSpPr>
          <p:cNvPr id="9" name="TextBox 8">
            <a:extLst>
              <a:ext uri="{FF2B5EF4-FFF2-40B4-BE49-F238E27FC236}">
                <a16:creationId xmlns:a16="http://schemas.microsoft.com/office/drawing/2014/main" id="{071A2109-4421-B2F1-E8DC-8C59743A79E3}"/>
              </a:ext>
            </a:extLst>
          </p:cNvPr>
          <p:cNvSpPr txBox="1"/>
          <p:nvPr/>
        </p:nvSpPr>
        <p:spPr>
          <a:xfrm>
            <a:off x="790575" y="5181600"/>
            <a:ext cx="5304853" cy="369332"/>
          </a:xfrm>
          <a:prstGeom prst="rect">
            <a:avLst/>
          </a:prstGeom>
          <a:noFill/>
        </p:spPr>
        <p:txBody>
          <a:bodyPr wrap="square" rtlCol="0">
            <a:spAutoFit/>
          </a:bodyPr>
          <a:lstStyle/>
          <a:p>
            <a:r>
              <a:rPr lang="en-NZ" i="1" dirty="0"/>
              <a:t>How we will input most data to LEAP</a:t>
            </a:r>
          </a:p>
        </p:txBody>
      </p:sp>
    </p:spTree>
    <p:extLst>
      <p:ext uri="{BB962C8B-B14F-4D97-AF65-F5344CB8AC3E}">
        <p14:creationId xmlns:p14="http://schemas.microsoft.com/office/powerpoint/2010/main" val="3468165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image shows a software interface with a selection of various tools and options for managing and organizing elements such as properties, effects, branches, and tags within a data structure.&#10;&#10;AI-generated content may be incorrect.">
            <a:extLst>
              <a:ext uri="{FF2B5EF4-FFF2-40B4-BE49-F238E27FC236}">
                <a16:creationId xmlns:a16="http://schemas.microsoft.com/office/drawing/2014/main" id="{B249E692-3B7C-4B16-9CC7-624B2604B16B}"/>
              </a:ext>
            </a:extLst>
          </p:cNvPr>
          <p:cNvPicPr>
            <a:picLocks noChangeAspect="1"/>
          </p:cNvPicPr>
          <p:nvPr/>
        </p:nvPicPr>
        <p:blipFill>
          <a:blip r:embed="rId2"/>
          <a:stretch>
            <a:fillRect/>
          </a:stretch>
        </p:blipFill>
        <p:spPr>
          <a:xfrm>
            <a:off x="7629525" y="26035"/>
            <a:ext cx="3741772" cy="6805930"/>
          </a:xfrm>
          <a:prstGeom prst="rect">
            <a:avLst/>
          </a:prstGeom>
        </p:spPr>
      </p:pic>
      <p:sp>
        <p:nvSpPr>
          <p:cNvPr id="3" name="TextBox 2">
            <a:extLst>
              <a:ext uri="{FF2B5EF4-FFF2-40B4-BE49-F238E27FC236}">
                <a16:creationId xmlns:a16="http://schemas.microsoft.com/office/drawing/2014/main" id="{A23CA91B-BB6F-FBD8-1DCF-0CF6C3B0EBA9}"/>
              </a:ext>
            </a:extLst>
          </p:cNvPr>
          <p:cNvSpPr txBox="1"/>
          <p:nvPr/>
        </p:nvSpPr>
        <p:spPr>
          <a:xfrm>
            <a:off x="-1314451" y="353921"/>
            <a:ext cx="8772525" cy="646331"/>
          </a:xfrm>
          <a:prstGeom prst="rect">
            <a:avLst/>
          </a:prstGeom>
          <a:noFill/>
        </p:spPr>
        <p:txBody>
          <a:bodyPr wrap="square">
            <a:spAutoFit/>
          </a:bodyPr>
          <a:lstStyle/>
          <a:p>
            <a:pPr marL="0" indent="0" algn="ctr">
              <a:buNone/>
            </a:pPr>
            <a:r>
              <a:rPr lang="en-US" sz="3600" b="1" dirty="0">
                <a:solidFill>
                  <a:srgbClr val="004B8D"/>
                </a:solidFill>
                <a:latin typeface="Aptos" pitchFamily="34" charset="0"/>
                <a:ea typeface="Aptos" pitchFamily="34" charset="-122"/>
                <a:cs typeface="Aptos" pitchFamily="34" charset="-120"/>
              </a:rPr>
              <a:t>Importing model branches</a:t>
            </a:r>
            <a:endParaRPr lang="en-US" sz="3600" dirty="0"/>
          </a:p>
        </p:txBody>
      </p:sp>
      <p:sp>
        <p:nvSpPr>
          <p:cNvPr id="4" name="TextBox 3">
            <a:extLst>
              <a:ext uri="{FF2B5EF4-FFF2-40B4-BE49-F238E27FC236}">
                <a16:creationId xmlns:a16="http://schemas.microsoft.com/office/drawing/2014/main" id="{CA3E2F6C-A86E-17FD-E5A9-603D60F7F0AA}"/>
              </a:ext>
            </a:extLst>
          </p:cNvPr>
          <p:cNvSpPr txBox="1"/>
          <p:nvPr/>
        </p:nvSpPr>
        <p:spPr>
          <a:xfrm>
            <a:off x="492441" y="1859339"/>
            <a:ext cx="5158740" cy="3139321"/>
          </a:xfrm>
          <a:prstGeom prst="rect">
            <a:avLst/>
          </a:prstGeom>
          <a:noFill/>
        </p:spPr>
        <p:txBody>
          <a:bodyPr wrap="square" rtlCol="0">
            <a:spAutoFit/>
          </a:bodyPr>
          <a:lstStyle/>
          <a:p>
            <a:r>
              <a:rPr lang="en-NZ" b="1" dirty="0"/>
              <a:t>The detailed model branches we are building which we will import:</a:t>
            </a:r>
          </a:p>
          <a:p>
            <a:pPr marL="285750" indent="-285750">
              <a:buFont typeface="Arial" panose="020B0604020202020204" pitchFamily="34" charset="0"/>
              <a:buChar char="•"/>
            </a:pPr>
            <a:r>
              <a:rPr lang="en-NZ" dirty="0"/>
              <a:t>Road </a:t>
            </a:r>
          </a:p>
          <a:p>
            <a:pPr marL="285750" indent="-285750">
              <a:buFont typeface="Arial" panose="020B0604020202020204" pitchFamily="34" charset="0"/>
              <a:buChar char="•"/>
            </a:pPr>
            <a:r>
              <a:rPr lang="en-NZ" dirty="0"/>
              <a:t>Transport non road</a:t>
            </a:r>
          </a:p>
          <a:p>
            <a:pPr marL="285750" indent="-285750">
              <a:buFont typeface="Arial" panose="020B0604020202020204" pitchFamily="34" charset="0"/>
              <a:buChar char="•"/>
            </a:pPr>
            <a:r>
              <a:rPr lang="en-NZ" dirty="0"/>
              <a:t>Agriculture/fishing and non specified others</a:t>
            </a:r>
          </a:p>
          <a:p>
            <a:pPr marL="285750" indent="-285750">
              <a:buFont typeface="Arial" panose="020B0604020202020204" pitchFamily="34" charset="0"/>
              <a:buChar char="•"/>
            </a:pPr>
            <a:r>
              <a:rPr lang="en-NZ" dirty="0"/>
              <a:t>Industry</a:t>
            </a:r>
          </a:p>
          <a:p>
            <a:pPr marL="285750" indent="-285750">
              <a:buFont typeface="Arial" panose="020B0604020202020204" pitchFamily="34" charset="0"/>
              <a:buChar char="•"/>
            </a:pPr>
            <a:r>
              <a:rPr lang="en-NZ" dirty="0"/>
              <a:t>Buildings</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Electricity</a:t>
            </a:r>
          </a:p>
          <a:p>
            <a:pPr marL="285750" indent="-285750">
              <a:buFont typeface="Arial" panose="020B0604020202020204" pitchFamily="34" charset="0"/>
              <a:buChar char="•"/>
            </a:pPr>
            <a:r>
              <a:rPr lang="en-NZ" dirty="0"/>
              <a:t>Heat</a:t>
            </a:r>
          </a:p>
          <a:p>
            <a:pPr marL="285750" indent="-285750">
              <a:buFont typeface="Arial" panose="020B0604020202020204" pitchFamily="34" charset="0"/>
              <a:buChar char="•"/>
            </a:pPr>
            <a:r>
              <a:rPr lang="en-NZ" dirty="0"/>
              <a:t>CHP</a:t>
            </a:r>
          </a:p>
        </p:txBody>
      </p:sp>
    </p:spTree>
    <p:extLst>
      <p:ext uri="{BB962C8B-B14F-4D97-AF65-F5344CB8AC3E}">
        <p14:creationId xmlns:p14="http://schemas.microsoft.com/office/powerpoint/2010/main" val="3043351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image appears to be a table or data entry showing various types of fuels, including Nuclear Heat, Biogas, Naphtha, and Bitumen, with corresponding values for different attributes like price, volume, and additional statistics.&#10;&#10;AI-generated content may be incorrect.">
            <a:extLst>
              <a:ext uri="{FF2B5EF4-FFF2-40B4-BE49-F238E27FC236}">
                <a16:creationId xmlns:a16="http://schemas.microsoft.com/office/drawing/2014/main" id="{20F73578-9645-4C4E-9D37-5E0F9A52175B}"/>
              </a:ext>
            </a:extLst>
          </p:cNvPr>
          <p:cNvPicPr>
            <a:picLocks noChangeAspect="1"/>
          </p:cNvPicPr>
          <p:nvPr/>
        </p:nvPicPr>
        <p:blipFill>
          <a:blip r:embed="rId3"/>
          <a:stretch>
            <a:fillRect/>
          </a:stretch>
        </p:blipFill>
        <p:spPr>
          <a:xfrm>
            <a:off x="7400925" y="368145"/>
            <a:ext cx="4343400" cy="5848985"/>
          </a:xfrm>
          <a:prstGeom prst="rect">
            <a:avLst/>
          </a:prstGeom>
        </p:spPr>
      </p:pic>
      <p:pic>
        <p:nvPicPr>
          <p:cNvPr id="4" name="Picture 3" descr="The image displays an energy balance table for the USA in 2022, detailing various energy sources like electricity, natural gas, kerosene, and others, along with their production, imports, exports, and total primary supply.&#10;&#10;AI-generated content may be incorrect.">
            <a:extLst>
              <a:ext uri="{FF2B5EF4-FFF2-40B4-BE49-F238E27FC236}">
                <a16:creationId xmlns:a16="http://schemas.microsoft.com/office/drawing/2014/main" id="{C9FED8C4-BA2A-4EBC-8AEA-34167B82E072}"/>
              </a:ext>
            </a:extLst>
          </p:cNvPr>
          <p:cNvPicPr>
            <a:picLocks noChangeAspect="1"/>
          </p:cNvPicPr>
          <p:nvPr/>
        </p:nvPicPr>
        <p:blipFill>
          <a:blip r:embed="rId4"/>
          <a:stretch>
            <a:fillRect/>
          </a:stretch>
        </p:blipFill>
        <p:spPr>
          <a:xfrm>
            <a:off x="447675" y="1100139"/>
            <a:ext cx="5943600" cy="3504565"/>
          </a:xfrm>
          <a:prstGeom prst="rect">
            <a:avLst/>
          </a:prstGeom>
        </p:spPr>
      </p:pic>
      <p:sp>
        <p:nvSpPr>
          <p:cNvPr id="7" name="TextBox 6">
            <a:extLst>
              <a:ext uri="{FF2B5EF4-FFF2-40B4-BE49-F238E27FC236}">
                <a16:creationId xmlns:a16="http://schemas.microsoft.com/office/drawing/2014/main" id="{BCF9F156-6B67-0924-39F9-EF3A013DD16E}"/>
              </a:ext>
            </a:extLst>
          </p:cNvPr>
          <p:cNvSpPr txBox="1"/>
          <p:nvPr/>
        </p:nvSpPr>
        <p:spPr>
          <a:xfrm>
            <a:off x="-1952626" y="368145"/>
            <a:ext cx="8772525" cy="646331"/>
          </a:xfrm>
          <a:prstGeom prst="rect">
            <a:avLst/>
          </a:prstGeom>
          <a:noFill/>
        </p:spPr>
        <p:txBody>
          <a:bodyPr wrap="square">
            <a:spAutoFit/>
          </a:bodyPr>
          <a:lstStyle/>
          <a:p>
            <a:pPr algn="ctr"/>
            <a:r>
              <a:rPr lang="en-US" sz="3600" b="1" dirty="0">
                <a:solidFill>
                  <a:srgbClr val="004B8D"/>
                </a:solidFill>
                <a:latin typeface="Aptos" pitchFamily="34" charset="0"/>
                <a:ea typeface="Aptos" pitchFamily="34" charset="-122"/>
                <a:cs typeface="Aptos" pitchFamily="34" charset="-120"/>
              </a:rPr>
              <a:t>Results export</a:t>
            </a:r>
            <a:endParaRPr lang="en-US" sz="3600" dirty="0"/>
          </a:p>
        </p:txBody>
      </p:sp>
    </p:spTree>
    <p:extLst>
      <p:ext uri="{BB962C8B-B14F-4D97-AF65-F5344CB8AC3E}">
        <p14:creationId xmlns:p14="http://schemas.microsoft.com/office/powerpoint/2010/main" val="245210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04</a:t>
            </a:r>
            <a:endParaRPr lang="en-US" sz="560" dirty="0"/>
          </a:p>
        </p:txBody>
      </p:sp>
      <p:sp>
        <p:nvSpPr>
          <p:cNvPr id="4" name="Text 1"/>
          <p:cNvSpPr/>
          <p:nvPr/>
        </p:nvSpPr>
        <p:spPr>
          <a:xfrm>
            <a:off x="658368" y="384048"/>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MODEL STRUCTURE</a:t>
            </a:r>
            <a:endParaRPr lang="en-US" sz="680" dirty="0"/>
          </a:p>
        </p:txBody>
      </p:sp>
      <p:sp>
        <p:nvSpPr>
          <p:cNvPr id="5" name="Text 2"/>
          <p:cNvSpPr/>
          <p:nvPr/>
        </p:nvSpPr>
        <p:spPr>
          <a:xfrm>
            <a:off x="658368" y="621792"/>
            <a:ext cx="8595360" cy="438912"/>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Why is there so much detail?</a:t>
            </a:r>
            <a:endParaRPr lang="en-US" sz="2400" dirty="0"/>
          </a:p>
        </p:txBody>
      </p:sp>
      <p:sp>
        <p:nvSpPr>
          <p:cNvPr id="6" name="Text 3"/>
          <p:cNvSpPr/>
          <p:nvPr/>
        </p:nvSpPr>
        <p:spPr>
          <a:xfrm>
            <a:off x="667512" y="1115568"/>
            <a:ext cx="9509760" cy="292608"/>
          </a:xfrm>
          <a:prstGeom prst="rect">
            <a:avLst/>
          </a:prstGeom>
          <a:noFill/>
          <a:ln/>
        </p:spPr>
        <p:txBody>
          <a:bodyPr wrap="square" lIns="0" tIns="0" rIns="0" bIns="0" rtlCol="0" anchor="ctr">
            <a:normAutofit/>
          </a:bodyPr>
          <a:lstStyle/>
          <a:p>
            <a:pPr marL="0" indent="0">
              <a:buNone/>
            </a:pPr>
            <a:r>
              <a:rPr lang="en-US" sz="1600" dirty="0">
                <a:solidFill>
                  <a:srgbClr val="243447"/>
                </a:solidFill>
                <a:latin typeface="Aptos" pitchFamily="34" charset="0"/>
                <a:ea typeface="Aptos" pitchFamily="34" charset="-122"/>
                <a:cs typeface="Aptos" pitchFamily="34" charset="-120"/>
              </a:rPr>
              <a:t>We keep as much useful ESTO balance detail as practical.</a:t>
            </a:r>
            <a:endParaRPr lang="en-US" sz="1600" dirty="0"/>
          </a:p>
        </p:txBody>
      </p:sp>
      <p:pic>
        <p:nvPicPr>
          <p:cNvPr id="18" name="Picture 17" descr="The diagram illustrates an ESTO mapping process that simplifies consistency across economies, detailing balance, ease of checking and reconciliation, and efficient aggregation over disaggregation.&#10;&#10;AI-generated content may be incorrect.">
            <a:extLst>
              <a:ext uri="{FF2B5EF4-FFF2-40B4-BE49-F238E27FC236}">
                <a16:creationId xmlns:a16="http://schemas.microsoft.com/office/drawing/2014/main" id="{43E76FAA-CE6E-C0DB-8C8C-B33D3FC1E159}"/>
              </a:ext>
            </a:extLst>
          </p:cNvPr>
          <p:cNvPicPr>
            <a:picLocks noChangeAspect="1"/>
          </p:cNvPicPr>
          <p:nvPr/>
        </p:nvPicPr>
        <p:blipFill>
          <a:blip r:embed="rId3"/>
          <a:stretch>
            <a:fillRect/>
          </a:stretch>
        </p:blipFill>
        <p:spPr>
          <a:xfrm>
            <a:off x="998220" y="1596147"/>
            <a:ext cx="9944100" cy="47363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108B9-3DF8-00AC-5FCA-F25F000B87B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493685B2-C1BD-2870-DDE1-D0DB4A488354}"/>
              </a:ext>
            </a:extLst>
          </p:cNvPr>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06</a:t>
            </a:r>
            <a:endParaRPr lang="en-US" sz="560" dirty="0"/>
          </a:p>
        </p:txBody>
      </p:sp>
      <p:sp>
        <p:nvSpPr>
          <p:cNvPr id="4" name="Text 1">
            <a:extLst>
              <a:ext uri="{FF2B5EF4-FFF2-40B4-BE49-F238E27FC236}">
                <a16:creationId xmlns:a16="http://schemas.microsoft.com/office/drawing/2014/main" id="{11B0F9E6-1F4A-F228-CCDC-CB56F4388FAB}"/>
              </a:ext>
            </a:extLst>
          </p:cNvPr>
          <p:cNvSpPr/>
          <p:nvPr/>
        </p:nvSpPr>
        <p:spPr>
          <a:xfrm>
            <a:off x="658368" y="384048"/>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AUTOMATION LAYER</a:t>
            </a:r>
            <a:endParaRPr lang="en-US" sz="680" dirty="0"/>
          </a:p>
        </p:txBody>
      </p:sp>
      <p:sp>
        <p:nvSpPr>
          <p:cNvPr id="5" name="Text 2">
            <a:extLst>
              <a:ext uri="{FF2B5EF4-FFF2-40B4-BE49-F238E27FC236}">
                <a16:creationId xmlns:a16="http://schemas.microsoft.com/office/drawing/2014/main" id="{F6996DF5-B66F-17E0-AE59-E48E175BA0E6}"/>
              </a:ext>
            </a:extLst>
          </p:cNvPr>
          <p:cNvSpPr/>
          <p:nvPr/>
        </p:nvSpPr>
        <p:spPr>
          <a:xfrm>
            <a:off x="658368" y="621791"/>
            <a:ext cx="8935212" cy="1078989"/>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What the leap_initialisation code does:</a:t>
            </a:r>
            <a:endParaRPr lang="en-US" sz="2400" dirty="0"/>
          </a:p>
        </p:txBody>
      </p:sp>
      <p:sp>
        <p:nvSpPr>
          <p:cNvPr id="6" name="Text 3">
            <a:extLst>
              <a:ext uri="{FF2B5EF4-FFF2-40B4-BE49-F238E27FC236}">
                <a16:creationId xmlns:a16="http://schemas.microsoft.com/office/drawing/2014/main" id="{C0CEADDD-6C05-B05F-23BB-E4462462445A}"/>
              </a:ext>
            </a:extLst>
          </p:cNvPr>
          <p:cNvSpPr/>
          <p:nvPr/>
        </p:nvSpPr>
        <p:spPr>
          <a:xfrm>
            <a:off x="667512" y="1580125"/>
            <a:ext cx="9509760" cy="292608"/>
          </a:xfrm>
          <a:prstGeom prst="rect">
            <a:avLst/>
          </a:prstGeom>
          <a:noFill/>
          <a:ln/>
        </p:spPr>
        <p:txBody>
          <a:bodyPr wrap="square" lIns="0" tIns="0" rIns="0" bIns="0" rtlCol="0" anchor="ctr">
            <a:normAutofit/>
          </a:bodyPr>
          <a:lstStyle/>
          <a:p>
            <a:pPr marL="0" indent="0">
              <a:buNone/>
            </a:pPr>
            <a:r>
              <a:rPr lang="en-US" dirty="0">
                <a:solidFill>
                  <a:srgbClr val="243447"/>
                </a:solidFill>
                <a:latin typeface="Aptos" pitchFamily="34" charset="0"/>
                <a:ea typeface="Aptos" pitchFamily="34" charset="-122"/>
                <a:cs typeface="Aptos" pitchFamily="34" charset="-120"/>
              </a:rPr>
              <a:t>It converts structure, mappings, and energy data into LEAP-ready workbooks.</a:t>
            </a:r>
            <a:endParaRPr lang="en-US" dirty="0"/>
          </a:p>
        </p:txBody>
      </p:sp>
      <p:sp>
        <p:nvSpPr>
          <p:cNvPr id="7" name="Shape 4">
            <a:extLst>
              <a:ext uri="{FF2B5EF4-FFF2-40B4-BE49-F238E27FC236}">
                <a16:creationId xmlns:a16="http://schemas.microsoft.com/office/drawing/2014/main" id="{A2D9C11C-CB1F-3B16-D319-5B7453912444}"/>
              </a:ext>
            </a:extLst>
          </p:cNvPr>
          <p:cNvSpPr/>
          <p:nvPr/>
        </p:nvSpPr>
        <p:spPr>
          <a:xfrm>
            <a:off x="1842681" y="2914907"/>
            <a:ext cx="777240" cy="421765"/>
          </a:xfrm>
          <a:prstGeom prst="line">
            <a:avLst/>
          </a:prstGeom>
          <a:noFill/>
          <a:ln w="19050">
            <a:solidFill>
              <a:srgbClr val="00A8E8"/>
            </a:solidFill>
            <a:prstDash val="solid"/>
            <a:tailEnd type="triangle"/>
          </a:ln>
        </p:spPr>
        <p:txBody>
          <a:bodyPr/>
          <a:lstStyle/>
          <a:p>
            <a:endParaRPr lang="en-NZ"/>
          </a:p>
        </p:txBody>
      </p:sp>
      <p:sp>
        <p:nvSpPr>
          <p:cNvPr id="9" name="Shape 6">
            <a:extLst>
              <a:ext uri="{FF2B5EF4-FFF2-40B4-BE49-F238E27FC236}">
                <a16:creationId xmlns:a16="http://schemas.microsoft.com/office/drawing/2014/main" id="{1C1AE7DF-83E8-E954-C628-089C74E46C51}"/>
              </a:ext>
            </a:extLst>
          </p:cNvPr>
          <p:cNvSpPr/>
          <p:nvPr/>
        </p:nvSpPr>
        <p:spPr>
          <a:xfrm>
            <a:off x="8834628" y="4047232"/>
            <a:ext cx="758952" cy="0"/>
          </a:xfrm>
          <a:prstGeom prst="line">
            <a:avLst/>
          </a:prstGeom>
          <a:noFill/>
          <a:ln w="19050">
            <a:solidFill>
              <a:srgbClr val="00A8E8"/>
            </a:solidFill>
            <a:prstDash val="solid"/>
            <a:tailEnd type="triangle"/>
          </a:ln>
        </p:spPr>
        <p:txBody>
          <a:bodyPr/>
          <a:lstStyle/>
          <a:p>
            <a:endParaRPr lang="en-NZ"/>
          </a:p>
        </p:txBody>
      </p:sp>
      <p:sp>
        <p:nvSpPr>
          <p:cNvPr id="10" name="Text 7">
            <a:extLst>
              <a:ext uri="{FF2B5EF4-FFF2-40B4-BE49-F238E27FC236}">
                <a16:creationId xmlns:a16="http://schemas.microsoft.com/office/drawing/2014/main" id="{897FA537-2A51-7E23-C3FB-77B40180D189}"/>
              </a:ext>
            </a:extLst>
          </p:cNvPr>
          <p:cNvSpPr/>
          <p:nvPr/>
        </p:nvSpPr>
        <p:spPr>
          <a:xfrm>
            <a:off x="185931" y="2140961"/>
            <a:ext cx="1481328"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LEAP model structure</a:t>
            </a:r>
            <a:endParaRPr lang="en-US" sz="1600" dirty="0"/>
          </a:p>
        </p:txBody>
      </p:sp>
      <p:sp>
        <p:nvSpPr>
          <p:cNvPr id="11" name="Text 8">
            <a:extLst>
              <a:ext uri="{FF2B5EF4-FFF2-40B4-BE49-F238E27FC236}">
                <a16:creationId xmlns:a16="http://schemas.microsoft.com/office/drawing/2014/main" id="{9C7EFB84-387B-EEA4-184A-3ADF496D42FA}"/>
              </a:ext>
            </a:extLst>
          </p:cNvPr>
          <p:cNvSpPr/>
          <p:nvPr/>
        </p:nvSpPr>
        <p:spPr>
          <a:xfrm>
            <a:off x="203926" y="3547555"/>
            <a:ext cx="1554480"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ESTO / 9</a:t>
            </a:r>
            <a:r>
              <a:rPr lang="en-US" sz="1600" b="1" baseline="30000" dirty="0">
                <a:solidFill>
                  <a:srgbClr val="004B8D"/>
                </a:solidFill>
                <a:latin typeface="Aptos" pitchFamily="34" charset="0"/>
                <a:ea typeface="Aptos" pitchFamily="34" charset="-122"/>
                <a:cs typeface="Aptos" pitchFamily="34" charset="-120"/>
              </a:rPr>
              <a:t>th</a:t>
            </a:r>
            <a:r>
              <a:rPr lang="en-US" sz="1600" b="1" dirty="0">
                <a:solidFill>
                  <a:srgbClr val="004B8D"/>
                </a:solidFill>
                <a:latin typeface="Aptos" pitchFamily="34" charset="0"/>
                <a:ea typeface="Aptos" pitchFamily="34" charset="-122"/>
                <a:cs typeface="Aptos" pitchFamily="34" charset="-120"/>
              </a:rPr>
              <a:t> energy data</a:t>
            </a:r>
            <a:endParaRPr lang="en-US" sz="1600" dirty="0"/>
          </a:p>
        </p:txBody>
      </p:sp>
      <p:sp>
        <p:nvSpPr>
          <p:cNvPr id="12" name="Text 9">
            <a:extLst>
              <a:ext uri="{FF2B5EF4-FFF2-40B4-BE49-F238E27FC236}">
                <a16:creationId xmlns:a16="http://schemas.microsoft.com/office/drawing/2014/main" id="{A3A4C882-CE22-C1B3-E0E7-EC300618213B}"/>
              </a:ext>
            </a:extLst>
          </p:cNvPr>
          <p:cNvSpPr/>
          <p:nvPr/>
        </p:nvSpPr>
        <p:spPr>
          <a:xfrm>
            <a:off x="2963573" y="3488181"/>
            <a:ext cx="2079343" cy="1019419"/>
          </a:xfrm>
          <a:prstGeom prst="rect">
            <a:avLst/>
          </a:prstGeom>
          <a:solidFill>
            <a:srgbClr val="FFFFFF"/>
          </a:solidFill>
          <a:ln w="13970">
            <a:solidFill>
              <a:srgbClr val="F28C28"/>
            </a:solidFill>
          </a:ln>
        </p:spPr>
        <p:txBody>
          <a:bodyPr wrap="square" lIns="889" tIns="889" rIns="889" bIns="889" rtlCol="0" anchor="ctr">
            <a:normAutofit/>
          </a:bodyPr>
          <a:lstStyle/>
          <a:p>
            <a:pPr marL="0" indent="0" algn="ctr">
              <a:buNone/>
            </a:pPr>
            <a:r>
              <a:rPr lang="en-US" sz="2000" b="1" dirty="0" err="1">
                <a:solidFill>
                  <a:srgbClr val="F28C28"/>
                </a:solidFill>
                <a:latin typeface="Aptos" pitchFamily="34" charset="0"/>
                <a:ea typeface="Aptos" pitchFamily="34" charset="-122"/>
                <a:cs typeface="Aptos" pitchFamily="34" charset="-120"/>
              </a:rPr>
              <a:t>leap_initialisation</a:t>
            </a:r>
            <a:endParaRPr lang="en-US" sz="2000" dirty="0"/>
          </a:p>
        </p:txBody>
      </p:sp>
      <p:sp>
        <p:nvSpPr>
          <p:cNvPr id="13" name="Text 10">
            <a:extLst>
              <a:ext uri="{FF2B5EF4-FFF2-40B4-BE49-F238E27FC236}">
                <a16:creationId xmlns:a16="http://schemas.microsoft.com/office/drawing/2014/main" id="{0EEFF6E2-A150-4E78-CF99-CB0B25566DA6}"/>
              </a:ext>
            </a:extLst>
          </p:cNvPr>
          <p:cNvSpPr/>
          <p:nvPr/>
        </p:nvSpPr>
        <p:spPr>
          <a:xfrm>
            <a:off x="10147389" y="2581734"/>
            <a:ext cx="1323666"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100" dirty="0">
                <a:solidFill>
                  <a:srgbClr val="004B8D"/>
                </a:solidFill>
                <a:latin typeface="Aptos" pitchFamily="34" charset="0"/>
                <a:ea typeface="Aptos" pitchFamily="34" charset="-122"/>
                <a:cs typeface="Aptos" pitchFamily="34" charset="-120"/>
              </a:rPr>
              <a:t>LEAP</a:t>
            </a:r>
            <a:endParaRPr lang="en-US" sz="1100" dirty="0"/>
          </a:p>
        </p:txBody>
      </p:sp>
      <p:sp>
        <p:nvSpPr>
          <p:cNvPr id="17" name="Shape 4">
            <a:extLst>
              <a:ext uri="{FF2B5EF4-FFF2-40B4-BE49-F238E27FC236}">
                <a16:creationId xmlns:a16="http://schemas.microsoft.com/office/drawing/2014/main" id="{122E3C8E-4DA5-A8E1-F1D3-011DD1620624}"/>
              </a:ext>
            </a:extLst>
          </p:cNvPr>
          <p:cNvSpPr/>
          <p:nvPr/>
        </p:nvSpPr>
        <p:spPr>
          <a:xfrm flipV="1">
            <a:off x="1842681" y="4035097"/>
            <a:ext cx="911342" cy="0"/>
          </a:xfrm>
          <a:prstGeom prst="line">
            <a:avLst/>
          </a:prstGeom>
          <a:noFill/>
          <a:ln w="19050">
            <a:solidFill>
              <a:srgbClr val="00A8E8"/>
            </a:solidFill>
            <a:prstDash val="solid"/>
            <a:tailEnd type="triangle"/>
          </a:ln>
        </p:spPr>
        <p:txBody>
          <a:bodyPr/>
          <a:lstStyle/>
          <a:p>
            <a:endParaRPr lang="en-NZ"/>
          </a:p>
        </p:txBody>
      </p:sp>
      <p:sp>
        <p:nvSpPr>
          <p:cNvPr id="19" name="Shape 6">
            <a:extLst>
              <a:ext uri="{FF2B5EF4-FFF2-40B4-BE49-F238E27FC236}">
                <a16:creationId xmlns:a16="http://schemas.microsoft.com/office/drawing/2014/main" id="{73F0D86D-4580-2628-4167-A2050E7DA3B0}"/>
              </a:ext>
            </a:extLst>
          </p:cNvPr>
          <p:cNvSpPr/>
          <p:nvPr/>
        </p:nvSpPr>
        <p:spPr>
          <a:xfrm>
            <a:off x="5119116" y="4047232"/>
            <a:ext cx="758952" cy="0"/>
          </a:xfrm>
          <a:prstGeom prst="line">
            <a:avLst/>
          </a:prstGeom>
          <a:noFill/>
          <a:ln w="19050">
            <a:solidFill>
              <a:srgbClr val="00A8E8"/>
            </a:solidFill>
            <a:prstDash val="solid"/>
            <a:tailEnd type="triangle"/>
          </a:ln>
        </p:spPr>
        <p:txBody>
          <a:bodyPr/>
          <a:lstStyle/>
          <a:p>
            <a:endParaRPr lang="en-NZ"/>
          </a:p>
        </p:txBody>
      </p:sp>
      <p:sp>
        <p:nvSpPr>
          <p:cNvPr id="23" name="Text 10">
            <a:extLst>
              <a:ext uri="{FF2B5EF4-FFF2-40B4-BE49-F238E27FC236}">
                <a16:creationId xmlns:a16="http://schemas.microsoft.com/office/drawing/2014/main" id="{7A35C4CF-4140-2496-B80C-523FEBD7D7C1}"/>
              </a:ext>
            </a:extLst>
          </p:cNvPr>
          <p:cNvSpPr/>
          <p:nvPr/>
        </p:nvSpPr>
        <p:spPr>
          <a:xfrm>
            <a:off x="6027727" y="3507736"/>
            <a:ext cx="2513076" cy="1078992"/>
          </a:xfrm>
          <a:prstGeom prst="rect">
            <a:avLst/>
          </a:prstGeom>
          <a:solidFill>
            <a:srgbClr val="EEF8FC"/>
          </a:solidFill>
          <a:ln w="13970">
            <a:solidFill>
              <a:srgbClr val="00A8E8"/>
            </a:solidFill>
          </a:ln>
        </p:spPr>
        <p:txBody>
          <a:bodyPr wrap="square" lIns="889" tIns="889" rIns="889" bIns="889" rtlCol="0" anchor="ctr">
            <a:normAutofit/>
          </a:bodyPr>
          <a:lstStyle/>
          <a:p>
            <a:pPr algn="ctr"/>
            <a:r>
              <a:rPr lang="en-US" sz="1600" b="1" dirty="0">
                <a:solidFill>
                  <a:srgbClr val="004B8D"/>
                </a:solidFill>
                <a:latin typeface="Aptos" pitchFamily="34" charset="0"/>
                <a:ea typeface="Aptos" pitchFamily="34" charset="-122"/>
                <a:cs typeface="Aptos" pitchFamily="34" charset="-120"/>
              </a:rPr>
              <a:t>Baseline seed estimates</a:t>
            </a:r>
            <a:endParaRPr lang="en-US" sz="1600" dirty="0"/>
          </a:p>
        </p:txBody>
      </p:sp>
      <p:sp>
        <p:nvSpPr>
          <p:cNvPr id="26" name="Oval 25">
            <a:extLst>
              <a:ext uri="{FF2B5EF4-FFF2-40B4-BE49-F238E27FC236}">
                <a16:creationId xmlns:a16="http://schemas.microsoft.com/office/drawing/2014/main" id="{0090E78C-7881-9585-ACA7-DF85D9B645EC}"/>
              </a:ext>
            </a:extLst>
          </p:cNvPr>
          <p:cNvSpPr/>
          <p:nvPr/>
        </p:nvSpPr>
        <p:spPr>
          <a:xfrm>
            <a:off x="8145780" y="37631"/>
            <a:ext cx="3689604" cy="1542494"/>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Z"/>
          </a:p>
        </p:txBody>
      </p:sp>
      <p:sp>
        <p:nvSpPr>
          <p:cNvPr id="28" name="TextBox 27">
            <a:extLst>
              <a:ext uri="{FF2B5EF4-FFF2-40B4-BE49-F238E27FC236}">
                <a16:creationId xmlns:a16="http://schemas.microsoft.com/office/drawing/2014/main" id="{61E98B10-67C8-AE6A-1D72-3F9439E28B93}"/>
              </a:ext>
            </a:extLst>
          </p:cNvPr>
          <p:cNvSpPr txBox="1"/>
          <p:nvPr/>
        </p:nvSpPr>
        <p:spPr>
          <a:xfrm>
            <a:off x="6148556" y="170079"/>
            <a:ext cx="7567422" cy="1200329"/>
          </a:xfrm>
          <a:prstGeom prst="rect">
            <a:avLst/>
          </a:prstGeom>
          <a:noFill/>
        </p:spPr>
        <p:txBody>
          <a:bodyPr wrap="square">
            <a:spAutoFit/>
          </a:bodyPr>
          <a:lstStyle/>
          <a:p>
            <a:pPr algn="ctr"/>
            <a:r>
              <a:rPr lang="en-US" sz="3600" dirty="0">
                <a:ln w="0"/>
                <a:solidFill>
                  <a:schemeClr val="accent2"/>
                </a:solidFill>
                <a:effectLst>
                  <a:outerShdw blurRad="38100" dist="25400" dir="5400000" algn="ctr" rotWithShape="0">
                    <a:srgbClr val="6E747A">
                      <a:alpha val="43000"/>
                    </a:srgbClr>
                  </a:outerShdw>
                </a:effectLst>
                <a:latin typeface="Aptos Display" pitchFamily="34" charset="0"/>
              </a:rPr>
              <a:t>Baseline seed </a:t>
            </a:r>
          </a:p>
          <a:p>
            <a:pPr algn="ctr"/>
            <a:r>
              <a:rPr lang="en-US" sz="3600" dirty="0">
                <a:ln w="0"/>
                <a:solidFill>
                  <a:schemeClr val="accent2"/>
                </a:solidFill>
                <a:effectLst>
                  <a:outerShdw blurRad="38100" dist="25400" dir="5400000" algn="ctr" rotWithShape="0">
                    <a:srgbClr val="6E747A">
                      <a:alpha val="43000"/>
                    </a:srgbClr>
                  </a:outerShdw>
                </a:effectLst>
                <a:latin typeface="Aptos Display" pitchFamily="34" charset="0"/>
              </a:rPr>
              <a:t>mode</a:t>
            </a:r>
          </a:p>
        </p:txBody>
      </p:sp>
      <p:sp>
        <p:nvSpPr>
          <p:cNvPr id="8" name="Text 8">
            <a:extLst>
              <a:ext uri="{FF2B5EF4-FFF2-40B4-BE49-F238E27FC236}">
                <a16:creationId xmlns:a16="http://schemas.microsoft.com/office/drawing/2014/main" id="{C5E2BCAD-75CE-714A-1B01-4E152ACF571B}"/>
              </a:ext>
            </a:extLst>
          </p:cNvPr>
          <p:cNvSpPr/>
          <p:nvPr/>
        </p:nvSpPr>
        <p:spPr>
          <a:xfrm>
            <a:off x="203926" y="4985268"/>
            <a:ext cx="1554480" cy="1078992"/>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mappings</a:t>
            </a:r>
            <a:endParaRPr lang="en-US" sz="1600" dirty="0"/>
          </a:p>
        </p:txBody>
      </p:sp>
      <p:sp>
        <p:nvSpPr>
          <p:cNvPr id="15" name="Shape 4">
            <a:extLst>
              <a:ext uri="{FF2B5EF4-FFF2-40B4-BE49-F238E27FC236}">
                <a16:creationId xmlns:a16="http://schemas.microsoft.com/office/drawing/2014/main" id="{FDBAEA85-236A-1EBF-A1BB-8F6C8DFBE21A}"/>
              </a:ext>
            </a:extLst>
          </p:cNvPr>
          <p:cNvSpPr/>
          <p:nvPr/>
        </p:nvSpPr>
        <p:spPr>
          <a:xfrm flipV="1">
            <a:off x="2013962" y="4626547"/>
            <a:ext cx="740061" cy="772998"/>
          </a:xfrm>
          <a:prstGeom prst="line">
            <a:avLst/>
          </a:prstGeom>
          <a:noFill/>
          <a:ln w="19050">
            <a:solidFill>
              <a:srgbClr val="00A8E8"/>
            </a:solidFill>
            <a:prstDash val="solid"/>
            <a:tailEnd type="triangle"/>
          </a:ln>
        </p:spPr>
        <p:txBody>
          <a:bodyPr/>
          <a:lstStyle/>
          <a:p>
            <a:endParaRPr lang="en-NZ"/>
          </a:p>
        </p:txBody>
      </p:sp>
      <p:sp>
        <p:nvSpPr>
          <p:cNvPr id="18" name="Shape 6">
            <a:extLst>
              <a:ext uri="{FF2B5EF4-FFF2-40B4-BE49-F238E27FC236}">
                <a16:creationId xmlns:a16="http://schemas.microsoft.com/office/drawing/2014/main" id="{0E5F82DC-BD61-7E8C-9106-0679618AE9B5}"/>
              </a:ext>
            </a:extLst>
          </p:cNvPr>
          <p:cNvSpPr/>
          <p:nvPr/>
        </p:nvSpPr>
        <p:spPr>
          <a:xfrm flipH="1" flipV="1">
            <a:off x="10310757" y="3919768"/>
            <a:ext cx="11589" cy="420544"/>
          </a:xfrm>
          <a:prstGeom prst="line">
            <a:avLst/>
          </a:prstGeom>
          <a:noFill/>
          <a:ln w="19050">
            <a:solidFill>
              <a:srgbClr val="00A8E8"/>
            </a:solidFill>
            <a:prstDash val="solid"/>
            <a:tailEnd type="triangle"/>
          </a:ln>
        </p:spPr>
        <p:txBody>
          <a:bodyPr/>
          <a:lstStyle/>
          <a:p>
            <a:endParaRPr lang="en-NZ"/>
          </a:p>
        </p:txBody>
      </p:sp>
      <p:sp>
        <p:nvSpPr>
          <p:cNvPr id="21" name="Text 10">
            <a:extLst>
              <a:ext uri="{FF2B5EF4-FFF2-40B4-BE49-F238E27FC236}">
                <a16:creationId xmlns:a16="http://schemas.microsoft.com/office/drawing/2014/main" id="{F012B3FD-A198-4578-DF8C-444F7202C5F3}"/>
              </a:ext>
            </a:extLst>
          </p:cNvPr>
          <p:cNvSpPr/>
          <p:nvPr/>
        </p:nvSpPr>
        <p:spPr>
          <a:xfrm>
            <a:off x="10147389" y="4663921"/>
            <a:ext cx="1323666" cy="1078992"/>
          </a:xfrm>
          <a:prstGeom prst="rect">
            <a:avLst/>
          </a:prstGeom>
          <a:solidFill>
            <a:srgbClr val="EEF8FC"/>
          </a:solidFill>
          <a:ln w="13970">
            <a:solidFill>
              <a:srgbClr val="00A8E8"/>
            </a:solidFill>
          </a:ln>
        </p:spPr>
        <p:txBody>
          <a:bodyPr wrap="square" lIns="889" tIns="889" rIns="889" bIns="889" rtlCol="0" anchor="ctr">
            <a:normAutofit/>
          </a:bodyPr>
          <a:lstStyle/>
          <a:p>
            <a:pPr algn="ctr"/>
            <a:r>
              <a:rPr lang="en-US" sz="1100" dirty="0" err="1">
                <a:solidFill>
                  <a:srgbClr val="004B8D"/>
                </a:solidFill>
                <a:latin typeface="Aptos" pitchFamily="34" charset="0"/>
              </a:rPr>
              <a:t>leap_initialisation</a:t>
            </a:r>
            <a:endParaRPr lang="en-US" sz="1100" dirty="0">
              <a:solidFill>
                <a:srgbClr val="004B8D"/>
              </a:solidFill>
              <a:latin typeface="Aptos" pitchFamily="34" charset="0"/>
            </a:endParaRPr>
          </a:p>
          <a:p>
            <a:pPr algn="ctr"/>
            <a:r>
              <a:rPr lang="en-US" sz="1100" dirty="0">
                <a:solidFill>
                  <a:srgbClr val="004B8D"/>
                </a:solidFill>
                <a:latin typeface="Aptos" pitchFamily="34" charset="0"/>
              </a:rPr>
              <a:t>Update process</a:t>
            </a:r>
          </a:p>
        </p:txBody>
      </p:sp>
      <p:sp>
        <p:nvSpPr>
          <p:cNvPr id="24" name="Shape 6">
            <a:extLst>
              <a:ext uri="{FF2B5EF4-FFF2-40B4-BE49-F238E27FC236}">
                <a16:creationId xmlns:a16="http://schemas.microsoft.com/office/drawing/2014/main" id="{279D5F98-A06C-8B27-15CB-644562BF422E}"/>
              </a:ext>
            </a:extLst>
          </p:cNvPr>
          <p:cNvSpPr/>
          <p:nvPr/>
        </p:nvSpPr>
        <p:spPr>
          <a:xfrm>
            <a:off x="11380464" y="3984780"/>
            <a:ext cx="0" cy="337164"/>
          </a:xfrm>
          <a:prstGeom prst="line">
            <a:avLst/>
          </a:prstGeom>
          <a:noFill/>
          <a:ln w="19050">
            <a:solidFill>
              <a:srgbClr val="00A8E8"/>
            </a:solidFill>
            <a:prstDash val="solid"/>
            <a:tailEnd type="triangle"/>
          </a:ln>
        </p:spPr>
        <p:txBody>
          <a:bodyPr/>
          <a:lstStyle/>
          <a:p>
            <a:endParaRPr lang="en-NZ"/>
          </a:p>
        </p:txBody>
      </p:sp>
      <p:sp>
        <p:nvSpPr>
          <p:cNvPr id="29" name="Rectangle: Rounded Corners 28">
            <a:extLst>
              <a:ext uri="{FF2B5EF4-FFF2-40B4-BE49-F238E27FC236}">
                <a16:creationId xmlns:a16="http://schemas.microsoft.com/office/drawing/2014/main" id="{BF189D8A-DB3B-90C2-6AB4-22CC14ED6C86}"/>
              </a:ext>
            </a:extLst>
          </p:cNvPr>
          <p:cNvSpPr/>
          <p:nvPr/>
        </p:nvSpPr>
        <p:spPr>
          <a:xfrm>
            <a:off x="9810750" y="2228850"/>
            <a:ext cx="2079343" cy="4095742"/>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1531952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theme_render/theme-2.png"/>
          <p:cNvPicPr>
            <a:picLocks noChangeAspect="1"/>
          </p:cNvPicPr>
          <p:nvPr/>
        </p:nvPicPr>
        <p:blipFill>
          <a:blip r:embed="rId3"/>
          <a:stretch>
            <a:fillRect/>
          </a:stretch>
        </p:blipFill>
        <p:spPr>
          <a:xfrm>
            <a:off x="30632" y="0"/>
            <a:ext cx="12191695" cy="6858000"/>
          </a:xfrm>
          <a:prstGeom prst="rect">
            <a:avLst/>
          </a:prstGeom>
        </p:spPr>
      </p:pic>
      <p:sp>
        <p:nvSpPr>
          <p:cNvPr id="3" name="Text 0"/>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08</a:t>
            </a:r>
            <a:endParaRPr lang="en-US" sz="560" dirty="0"/>
          </a:p>
        </p:txBody>
      </p:sp>
      <p:sp>
        <p:nvSpPr>
          <p:cNvPr id="4" name="Text 1"/>
          <p:cNvSpPr/>
          <p:nvPr/>
        </p:nvSpPr>
        <p:spPr>
          <a:xfrm>
            <a:off x="658368" y="384048"/>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WHOLE-SYSTEM SETUP</a:t>
            </a:r>
            <a:endParaRPr lang="en-US" sz="680" dirty="0"/>
          </a:p>
        </p:txBody>
      </p:sp>
      <p:sp>
        <p:nvSpPr>
          <p:cNvPr id="5" name="Text 2"/>
          <p:cNvSpPr/>
          <p:nvPr/>
        </p:nvSpPr>
        <p:spPr>
          <a:xfrm>
            <a:off x="658368" y="621792"/>
            <a:ext cx="8595360" cy="438912"/>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What gets initialised</a:t>
            </a:r>
            <a:endParaRPr lang="en-US" sz="2400" dirty="0"/>
          </a:p>
        </p:txBody>
      </p:sp>
      <p:sp>
        <p:nvSpPr>
          <p:cNvPr id="6" name="Text 3"/>
          <p:cNvSpPr/>
          <p:nvPr/>
        </p:nvSpPr>
        <p:spPr>
          <a:xfrm>
            <a:off x="667512" y="1115568"/>
            <a:ext cx="9589008" cy="566928"/>
          </a:xfrm>
          <a:prstGeom prst="rect">
            <a:avLst/>
          </a:prstGeom>
          <a:noFill/>
          <a:ln/>
        </p:spPr>
        <p:txBody>
          <a:bodyPr wrap="square" lIns="0" tIns="0" rIns="0" bIns="0" rtlCol="0" anchor="ctr">
            <a:normAutofit/>
          </a:bodyPr>
          <a:lstStyle/>
          <a:p>
            <a:pPr marL="0" indent="0">
              <a:buNone/>
            </a:pPr>
            <a:r>
              <a:rPr lang="en-US" sz="1600" dirty="0">
                <a:solidFill>
                  <a:srgbClr val="243447"/>
                </a:solidFill>
                <a:latin typeface="Aptos" pitchFamily="34" charset="0"/>
                <a:ea typeface="Aptos" pitchFamily="34" charset="-122"/>
                <a:cs typeface="Aptos" pitchFamily="34" charset="-120"/>
              </a:rPr>
              <a:t>Initialisation covers the connected energy system, leaving placeholders/interim branches for demand and power to replace later</a:t>
            </a:r>
            <a:endParaRPr lang="en-US" sz="1600" dirty="0"/>
          </a:p>
        </p:txBody>
      </p:sp>
      <p:sp>
        <p:nvSpPr>
          <p:cNvPr id="7" name="Shape 4"/>
          <p:cNvSpPr/>
          <p:nvPr/>
        </p:nvSpPr>
        <p:spPr>
          <a:xfrm>
            <a:off x="3703320" y="2926080"/>
            <a:ext cx="1005840" cy="0"/>
          </a:xfrm>
          <a:prstGeom prst="line">
            <a:avLst/>
          </a:prstGeom>
          <a:noFill/>
          <a:ln w="17780">
            <a:solidFill>
              <a:srgbClr val="B7DFF2"/>
            </a:solidFill>
            <a:prstDash val="solid"/>
            <a:tailEnd type="triangle"/>
          </a:ln>
        </p:spPr>
        <p:txBody>
          <a:bodyPr/>
          <a:lstStyle/>
          <a:p>
            <a:endParaRPr lang="en-NZ"/>
          </a:p>
        </p:txBody>
      </p:sp>
      <p:sp>
        <p:nvSpPr>
          <p:cNvPr id="8" name="Shape 5"/>
          <p:cNvSpPr/>
          <p:nvPr/>
        </p:nvSpPr>
        <p:spPr>
          <a:xfrm>
            <a:off x="7498080" y="2926080"/>
            <a:ext cx="1005840" cy="0"/>
          </a:xfrm>
          <a:prstGeom prst="line">
            <a:avLst/>
          </a:prstGeom>
          <a:noFill/>
          <a:ln w="17780">
            <a:solidFill>
              <a:srgbClr val="B7DFF2"/>
            </a:solidFill>
            <a:prstDash val="solid"/>
            <a:tailEnd type="triangle"/>
          </a:ln>
        </p:spPr>
        <p:txBody>
          <a:bodyPr/>
          <a:lstStyle/>
          <a:p>
            <a:endParaRPr lang="en-NZ"/>
          </a:p>
        </p:txBody>
      </p:sp>
      <p:sp>
        <p:nvSpPr>
          <p:cNvPr id="9" name="Text 6"/>
          <p:cNvSpPr/>
          <p:nvPr/>
        </p:nvSpPr>
        <p:spPr>
          <a:xfrm>
            <a:off x="1234440" y="2286000"/>
            <a:ext cx="2240280" cy="1280160"/>
          </a:xfrm>
          <a:prstGeom prst="rect">
            <a:avLst/>
          </a:prstGeom>
          <a:solidFill>
            <a:srgbClr val="FFFFFF"/>
          </a:solidFill>
          <a:ln w="13970">
            <a:solidFill>
              <a:srgbClr val="00A8E8"/>
            </a:solidFill>
          </a:ln>
        </p:spPr>
        <p:txBody>
          <a:bodyPr wrap="square" lIns="889" tIns="889" rIns="889" bIns="889" rtlCol="0" anchor="ctr">
            <a:normAutofit/>
          </a:bodyPr>
          <a:lstStyle/>
          <a:p>
            <a:pPr marL="0" indent="0" algn="ctr">
              <a:buNone/>
            </a:pPr>
            <a:r>
              <a:rPr lang="en-US" sz="2200" b="1" dirty="0">
                <a:solidFill>
                  <a:srgbClr val="004B8D"/>
                </a:solidFill>
                <a:latin typeface="Aptos" pitchFamily="34" charset="0"/>
                <a:ea typeface="Aptos" pitchFamily="34" charset="-122"/>
                <a:cs typeface="Aptos" pitchFamily="34" charset="-120"/>
              </a:rPr>
              <a:t>Demand</a:t>
            </a:r>
            <a:endParaRPr lang="en-US" sz="2200" dirty="0"/>
          </a:p>
        </p:txBody>
      </p:sp>
      <p:sp>
        <p:nvSpPr>
          <p:cNvPr id="10" name="Text 7"/>
          <p:cNvSpPr/>
          <p:nvPr/>
        </p:nvSpPr>
        <p:spPr>
          <a:xfrm>
            <a:off x="4800600" y="2011680"/>
            <a:ext cx="2560320" cy="1828800"/>
          </a:xfrm>
          <a:prstGeom prst="rect">
            <a:avLst/>
          </a:prstGeom>
          <a:solidFill>
            <a:srgbClr val="FFFFFF"/>
          </a:solidFill>
          <a:ln w="13970">
            <a:solidFill>
              <a:srgbClr val="F28C28"/>
            </a:solidFill>
          </a:ln>
        </p:spPr>
        <p:txBody>
          <a:bodyPr wrap="square" lIns="889" tIns="889" rIns="889" bIns="889" rtlCol="0" anchor="ctr">
            <a:normAutofit/>
          </a:bodyPr>
          <a:lstStyle/>
          <a:p>
            <a:pPr marL="0" indent="0" algn="ctr">
              <a:buNone/>
            </a:pPr>
            <a:r>
              <a:rPr lang="en-US" sz="2200" b="1" dirty="0">
                <a:solidFill>
                  <a:srgbClr val="F28C28"/>
                </a:solidFill>
                <a:latin typeface="Aptos" pitchFamily="34" charset="0"/>
                <a:ea typeface="Aptos" pitchFamily="34" charset="-122"/>
                <a:cs typeface="Aptos" pitchFamily="34" charset="-120"/>
              </a:rPr>
              <a:t>Transformation</a:t>
            </a:r>
            <a:endParaRPr lang="en-US" sz="2200" dirty="0"/>
          </a:p>
        </p:txBody>
      </p:sp>
      <p:sp>
        <p:nvSpPr>
          <p:cNvPr id="11" name="Text 8"/>
          <p:cNvSpPr/>
          <p:nvPr/>
        </p:nvSpPr>
        <p:spPr>
          <a:xfrm>
            <a:off x="8732520" y="2286000"/>
            <a:ext cx="2240280" cy="1280160"/>
          </a:xfrm>
          <a:prstGeom prst="rect">
            <a:avLst/>
          </a:prstGeom>
          <a:solidFill>
            <a:srgbClr val="FFFFFF"/>
          </a:solidFill>
          <a:ln w="13970">
            <a:solidFill>
              <a:srgbClr val="2EAD6B"/>
            </a:solidFill>
          </a:ln>
        </p:spPr>
        <p:txBody>
          <a:bodyPr wrap="square" lIns="889" tIns="889" rIns="889" bIns="889" rtlCol="0" anchor="ctr">
            <a:normAutofit/>
          </a:bodyPr>
          <a:lstStyle/>
          <a:p>
            <a:pPr marL="0" indent="0" algn="ctr">
              <a:buNone/>
            </a:pPr>
            <a:r>
              <a:rPr lang="en-US" sz="2200" b="1" dirty="0">
                <a:solidFill>
                  <a:srgbClr val="1D7A48"/>
                </a:solidFill>
                <a:latin typeface="Aptos" pitchFamily="34" charset="0"/>
                <a:ea typeface="Aptos" pitchFamily="34" charset="-122"/>
                <a:cs typeface="Aptos" pitchFamily="34" charset="-120"/>
              </a:rPr>
              <a:t>Supply</a:t>
            </a:r>
            <a:endParaRPr lang="en-US" sz="2200" dirty="0"/>
          </a:p>
          <a:p>
            <a:pPr marL="0" indent="0" algn="ctr">
              <a:buNone/>
            </a:pPr>
            <a:r>
              <a:rPr lang="en-US" sz="2200" b="1" dirty="0">
                <a:solidFill>
                  <a:srgbClr val="1D7A48"/>
                </a:solidFill>
                <a:latin typeface="Aptos" pitchFamily="34" charset="0"/>
                <a:ea typeface="Aptos" pitchFamily="34" charset="-122"/>
                <a:cs typeface="Aptos" pitchFamily="34" charset="-120"/>
              </a:rPr>
              <a:t>resources</a:t>
            </a:r>
            <a:endParaRPr lang="en-US" sz="2200" dirty="0"/>
          </a:p>
        </p:txBody>
      </p:sp>
      <p:sp>
        <p:nvSpPr>
          <p:cNvPr id="12" name="Text 9"/>
          <p:cNvSpPr/>
          <p:nvPr/>
        </p:nvSpPr>
        <p:spPr>
          <a:xfrm>
            <a:off x="4450385" y="4011565"/>
            <a:ext cx="3200400" cy="531866"/>
          </a:xfrm>
          <a:prstGeom prst="rect">
            <a:avLst/>
          </a:prstGeom>
          <a:noFill/>
          <a:ln/>
        </p:spPr>
        <p:txBody>
          <a:bodyPr wrap="square" lIns="0" tIns="0" rIns="0" bIns="0" rtlCol="0" anchor="ctr">
            <a:noAutofit/>
          </a:bodyPr>
          <a:lstStyle/>
          <a:p>
            <a:pPr algn="ctr"/>
            <a:r>
              <a:rPr lang="en-US" sz="1600" dirty="0">
                <a:solidFill>
                  <a:srgbClr val="6B778D"/>
                </a:solidFill>
                <a:latin typeface="Aptos" pitchFamily="34" charset="0"/>
                <a:ea typeface="Aptos" pitchFamily="34" charset="-122"/>
                <a:cs typeface="Aptos" pitchFamily="34" charset="-120"/>
              </a:rPr>
              <a:t>Power (interim) •  Refining  </a:t>
            </a:r>
          </a:p>
          <a:p>
            <a:pPr algn="ctr"/>
            <a:r>
              <a:rPr lang="en-US" sz="1600" dirty="0">
                <a:solidFill>
                  <a:srgbClr val="6B778D"/>
                </a:solidFill>
                <a:latin typeface="Aptos" pitchFamily="34" charset="0"/>
                <a:ea typeface="Aptos" pitchFamily="34" charset="-122"/>
                <a:cs typeface="Aptos" pitchFamily="34" charset="-120"/>
              </a:rPr>
              <a:t>•  Other transformation </a:t>
            </a:r>
          </a:p>
          <a:p>
            <a:pPr algn="ctr"/>
            <a:r>
              <a:rPr lang="en-US" sz="1600" dirty="0">
                <a:solidFill>
                  <a:srgbClr val="6B778D"/>
                </a:solidFill>
                <a:latin typeface="Aptos" pitchFamily="34" charset="0"/>
                <a:ea typeface="Aptos" pitchFamily="34" charset="-122"/>
                <a:cs typeface="Aptos" pitchFamily="34" charset="-120"/>
              </a:rPr>
              <a:t>• Transfers • Losses and own use </a:t>
            </a:r>
            <a:endParaRPr lang="en-US" sz="1600" dirty="0"/>
          </a:p>
        </p:txBody>
      </p:sp>
      <p:sp>
        <p:nvSpPr>
          <p:cNvPr id="13" name="Text 10"/>
          <p:cNvSpPr/>
          <p:nvPr/>
        </p:nvSpPr>
        <p:spPr>
          <a:xfrm>
            <a:off x="2221992" y="5231130"/>
            <a:ext cx="7955280" cy="438912"/>
          </a:xfrm>
          <a:prstGeom prst="rect">
            <a:avLst/>
          </a:prstGeom>
          <a:solidFill>
            <a:srgbClr val="F7FAFC"/>
          </a:solidFill>
          <a:ln w="13970">
            <a:solidFill>
              <a:srgbClr val="B7DFF2"/>
            </a:solidFill>
          </a:ln>
        </p:spPr>
        <p:txBody>
          <a:bodyPr wrap="square" lIns="889" tIns="889" rIns="889" bIns="889" rtlCol="0" anchor="ctr">
            <a:normAutofit/>
          </a:bodyPr>
          <a:lstStyle/>
          <a:p>
            <a:pPr marL="0" indent="0" algn="ctr">
              <a:buNone/>
            </a:pPr>
            <a:r>
              <a:rPr lang="en-US" sz="1380" b="1" dirty="0">
                <a:solidFill>
                  <a:srgbClr val="243447"/>
                </a:solidFill>
                <a:latin typeface="Aptos" pitchFamily="34" charset="0"/>
                <a:ea typeface="Aptos" pitchFamily="34" charset="-122"/>
                <a:cs typeface="Aptos" pitchFamily="34" charset="-120"/>
              </a:rPr>
              <a:t>Settings: scenarios, years, fuels, units, surplus and shortfall rules</a:t>
            </a:r>
            <a:endParaRPr lang="en-US" sz="1380" dirty="0"/>
          </a:p>
        </p:txBody>
      </p:sp>
      <p:sp>
        <p:nvSpPr>
          <p:cNvPr id="15" name="Text 9">
            <a:extLst>
              <a:ext uri="{FF2B5EF4-FFF2-40B4-BE49-F238E27FC236}">
                <a16:creationId xmlns:a16="http://schemas.microsoft.com/office/drawing/2014/main" id="{0217567A-FCE0-3E09-C085-47AF70561A8F}"/>
              </a:ext>
            </a:extLst>
          </p:cNvPr>
          <p:cNvSpPr/>
          <p:nvPr/>
        </p:nvSpPr>
        <p:spPr>
          <a:xfrm>
            <a:off x="609905" y="3713988"/>
            <a:ext cx="3840480" cy="329184"/>
          </a:xfrm>
          <a:prstGeom prst="rect">
            <a:avLst/>
          </a:prstGeom>
          <a:noFill/>
          <a:ln/>
        </p:spPr>
        <p:txBody>
          <a:bodyPr wrap="square" lIns="0" tIns="0" rIns="0" bIns="0" rtlCol="0" anchor="ctr">
            <a:normAutofit/>
          </a:bodyPr>
          <a:lstStyle/>
          <a:p>
            <a:pPr marL="0" indent="0" algn="ctr">
              <a:buNone/>
            </a:pPr>
            <a:r>
              <a:rPr lang="en-US" sz="1600" dirty="0">
                <a:solidFill>
                  <a:srgbClr val="6B778D"/>
                </a:solidFill>
                <a:latin typeface="Aptos" pitchFamily="34" charset="0"/>
                <a:ea typeface="Aptos" pitchFamily="34" charset="-122"/>
                <a:cs typeface="Aptos" pitchFamily="34" charset="-120"/>
              </a:rPr>
              <a:t>Aggregated demand (placeholder)</a:t>
            </a:r>
            <a:endParaRPr lang="en-US" sz="1600" dirty="0"/>
          </a:p>
        </p:txBody>
      </p:sp>
      <p:sp>
        <p:nvSpPr>
          <p:cNvPr id="16" name="Text 9">
            <a:extLst>
              <a:ext uri="{FF2B5EF4-FFF2-40B4-BE49-F238E27FC236}">
                <a16:creationId xmlns:a16="http://schemas.microsoft.com/office/drawing/2014/main" id="{647A2C3E-F8DA-DE5E-A8E1-1326DEFA0EB3}"/>
              </a:ext>
            </a:extLst>
          </p:cNvPr>
          <p:cNvSpPr/>
          <p:nvPr/>
        </p:nvSpPr>
        <p:spPr>
          <a:xfrm>
            <a:off x="8065008" y="3855731"/>
            <a:ext cx="3200400" cy="531866"/>
          </a:xfrm>
          <a:prstGeom prst="rect">
            <a:avLst/>
          </a:prstGeom>
          <a:noFill/>
          <a:ln/>
        </p:spPr>
        <p:txBody>
          <a:bodyPr wrap="square" lIns="0" tIns="0" rIns="0" bIns="0" rtlCol="0" anchor="ctr">
            <a:normAutofit/>
          </a:bodyPr>
          <a:lstStyle/>
          <a:p>
            <a:pPr algn="ctr"/>
            <a:r>
              <a:rPr lang="en-US" sz="1600" dirty="0">
                <a:solidFill>
                  <a:srgbClr val="6B778D"/>
                </a:solidFill>
                <a:latin typeface="Aptos" pitchFamily="34" charset="0"/>
                <a:ea typeface="Aptos" pitchFamily="34" charset="-122"/>
                <a:cs typeface="Aptos" pitchFamily="34" charset="-120"/>
              </a:rPr>
              <a:t>Exports, imports, production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06</a:t>
            </a:r>
            <a:endParaRPr lang="en-US" sz="560" dirty="0"/>
          </a:p>
        </p:txBody>
      </p:sp>
      <p:sp>
        <p:nvSpPr>
          <p:cNvPr id="4" name="Text 1"/>
          <p:cNvSpPr/>
          <p:nvPr/>
        </p:nvSpPr>
        <p:spPr>
          <a:xfrm>
            <a:off x="667512" y="186881"/>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AUTOMATION LAYER</a:t>
            </a:r>
            <a:endParaRPr lang="en-US" sz="680" dirty="0"/>
          </a:p>
        </p:txBody>
      </p:sp>
      <p:sp>
        <p:nvSpPr>
          <p:cNvPr id="5" name="Text 2"/>
          <p:cNvSpPr/>
          <p:nvPr/>
        </p:nvSpPr>
        <p:spPr>
          <a:xfrm>
            <a:off x="658368" y="173251"/>
            <a:ext cx="8973312" cy="1037543"/>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What the leap_initialisation code does: </a:t>
            </a:r>
          </a:p>
        </p:txBody>
      </p:sp>
      <p:pic>
        <p:nvPicPr>
          <p:cNvPr id="42" name="Picture 41" descr="The image illustrates a flowchart for setting up and updating an energy balance model in LEAP software, detailing steps like dashboard creation, data review, seed baseline, and result verification.&#10;&#10;AI-generated content may be incorrect.">
            <a:extLst>
              <a:ext uri="{FF2B5EF4-FFF2-40B4-BE49-F238E27FC236}">
                <a16:creationId xmlns:a16="http://schemas.microsoft.com/office/drawing/2014/main" id="{FE947C73-966C-4A58-0BDB-CBA630D131B5}"/>
              </a:ext>
            </a:extLst>
          </p:cNvPr>
          <p:cNvPicPr>
            <a:picLocks noChangeAspect="1"/>
          </p:cNvPicPr>
          <p:nvPr/>
        </p:nvPicPr>
        <p:blipFill>
          <a:blip r:embed="rId3"/>
          <a:stretch>
            <a:fillRect/>
          </a:stretch>
        </p:blipFill>
        <p:spPr>
          <a:xfrm>
            <a:off x="0" y="1032571"/>
            <a:ext cx="12192000" cy="5026341"/>
          </a:xfrm>
          <a:prstGeom prst="rect">
            <a:avLst/>
          </a:prstGeom>
        </p:spPr>
      </p:pic>
      <p:sp>
        <p:nvSpPr>
          <p:cNvPr id="48" name="Text 12">
            <a:extLst>
              <a:ext uri="{FF2B5EF4-FFF2-40B4-BE49-F238E27FC236}">
                <a16:creationId xmlns:a16="http://schemas.microsoft.com/office/drawing/2014/main" id="{9B3A885D-42AA-DFD1-7CF6-0420383246AD}"/>
              </a:ext>
            </a:extLst>
          </p:cNvPr>
          <p:cNvSpPr/>
          <p:nvPr/>
        </p:nvSpPr>
        <p:spPr>
          <a:xfrm>
            <a:off x="2049093" y="5707380"/>
            <a:ext cx="8361731" cy="945510"/>
          </a:xfrm>
          <a:prstGeom prst="rect">
            <a:avLst/>
          </a:prstGeom>
          <a:solidFill>
            <a:srgbClr val="FFFFFF">
              <a:alpha val="96000"/>
            </a:srgbClr>
          </a:solidFill>
          <a:ln w="8890">
            <a:solidFill>
              <a:srgbClr val="B7DFF2"/>
            </a:solidFill>
          </a:ln>
        </p:spPr>
        <p:txBody>
          <a:bodyPr wrap="square" lIns="762" tIns="762" rIns="762" bIns="762" rtlCol="0" anchor="ctr">
            <a:normAutofit/>
          </a:bodyPr>
          <a:lstStyle/>
          <a:p>
            <a:pPr marL="0" indent="0" algn="ctr">
              <a:buNone/>
            </a:pPr>
            <a:r>
              <a:rPr lang="en-US" sz="1800" b="1" dirty="0" err="1">
                <a:solidFill>
                  <a:srgbClr val="004B8D"/>
                </a:solidFill>
                <a:latin typeface="Aptos Display" pitchFamily="34" charset="0"/>
                <a:ea typeface="Aptos Display" pitchFamily="34" charset="-122"/>
                <a:cs typeface="Aptos Display" pitchFamily="34" charset="-120"/>
              </a:rPr>
              <a:t>Initialisation</a:t>
            </a:r>
            <a:r>
              <a:rPr lang="en-US" sz="1800" b="1" dirty="0">
                <a:solidFill>
                  <a:srgbClr val="004B8D"/>
                </a:solidFill>
                <a:latin typeface="Aptos Display" pitchFamily="34" charset="0"/>
                <a:ea typeface="Aptos Display" pitchFamily="34" charset="-122"/>
                <a:cs typeface="Aptos Display" pitchFamily="34" charset="-120"/>
              </a:rPr>
              <a:t> is complete once the base year energy matches ESTO and projections match previous Outlook projections, or thereabouts(i.e. fully reconciled).</a:t>
            </a:r>
            <a:endParaRPr lang="en-US" sz="1800" dirty="0"/>
          </a:p>
        </p:txBody>
      </p:sp>
      <p:sp>
        <p:nvSpPr>
          <p:cNvPr id="51" name="Oval 50">
            <a:extLst>
              <a:ext uri="{FF2B5EF4-FFF2-40B4-BE49-F238E27FC236}">
                <a16:creationId xmlns:a16="http://schemas.microsoft.com/office/drawing/2014/main" id="{D06CCDEC-B5E1-92DE-5460-BCD31B43113A}"/>
              </a:ext>
            </a:extLst>
          </p:cNvPr>
          <p:cNvSpPr/>
          <p:nvPr/>
        </p:nvSpPr>
        <p:spPr>
          <a:xfrm>
            <a:off x="8333232" y="37632"/>
            <a:ext cx="3334512" cy="145856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Z"/>
          </a:p>
        </p:txBody>
      </p:sp>
      <p:sp>
        <p:nvSpPr>
          <p:cNvPr id="50" name="TextBox 49">
            <a:extLst>
              <a:ext uri="{FF2B5EF4-FFF2-40B4-BE49-F238E27FC236}">
                <a16:creationId xmlns:a16="http://schemas.microsoft.com/office/drawing/2014/main" id="{46C918D7-40F1-142B-B549-8AC43C8CDC31}"/>
              </a:ext>
            </a:extLst>
          </p:cNvPr>
          <p:cNvSpPr txBox="1"/>
          <p:nvPr/>
        </p:nvSpPr>
        <p:spPr>
          <a:xfrm>
            <a:off x="8633460" y="427054"/>
            <a:ext cx="7567422" cy="646331"/>
          </a:xfrm>
          <a:prstGeom prst="rect">
            <a:avLst/>
          </a:prstGeom>
          <a:noFill/>
        </p:spPr>
        <p:txBody>
          <a:bodyPr wrap="square">
            <a:spAutoFit/>
          </a:bodyPr>
          <a:lstStyle/>
          <a:p>
            <a:pPr marL="0" indent="0">
              <a:buNone/>
            </a:pPr>
            <a:r>
              <a:rPr lang="en-US" sz="3600" dirty="0">
                <a:ln w="0"/>
                <a:solidFill>
                  <a:schemeClr val="accent2"/>
                </a:solidFill>
                <a:effectLst>
                  <a:outerShdw blurRad="38100" dist="25400" dir="5400000" algn="ctr" rotWithShape="0">
                    <a:srgbClr val="6E747A">
                      <a:alpha val="43000"/>
                    </a:srgbClr>
                  </a:outerShdw>
                </a:effectLst>
                <a:latin typeface="Aptos Display" pitchFamily="34" charset="0"/>
                <a:ea typeface="Aptos Display" pitchFamily="34" charset="-122"/>
                <a:cs typeface="Aptos Display" pitchFamily="34" charset="-120"/>
              </a:rPr>
              <a:t>Update mode</a:t>
            </a:r>
            <a:endParaRPr lang="en-US" sz="3600" dirty="0">
              <a:ln w="0"/>
              <a:solidFill>
                <a:schemeClr val="accent2"/>
              </a:solidFill>
              <a:effectLst>
                <a:outerShdw blurRad="38100" dist="25400" dir="5400000" algn="ctr" rotWithShape="0">
                  <a:srgbClr val="6E747A">
                    <a:alpha val="43000"/>
                  </a:srgbClr>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09</a:t>
            </a:r>
            <a:endParaRPr lang="en-US" sz="560" dirty="0"/>
          </a:p>
        </p:txBody>
      </p:sp>
      <p:sp>
        <p:nvSpPr>
          <p:cNvPr id="4" name="Text 1"/>
          <p:cNvSpPr/>
          <p:nvPr/>
        </p:nvSpPr>
        <p:spPr>
          <a:xfrm>
            <a:off x="658368" y="384048"/>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TEMPORARY STRUCTURE</a:t>
            </a:r>
            <a:endParaRPr lang="en-US" sz="680" dirty="0"/>
          </a:p>
        </p:txBody>
      </p:sp>
      <p:sp>
        <p:nvSpPr>
          <p:cNvPr id="5" name="Text 2"/>
          <p:cNvSpPr/>
          <p:nvPr/>
        </p:nvSpPr>
        <p:spPr>
          <a:xfrm>
            <a:off x="658368" y="621792"/>
            <a:ext cx="8595360" cy="438912"/>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Why placeholder or interim branches exist</a:t>
            </a:r>
            <a:endParaRPr lang="en-US" sz="2400" dirty="0"/>
          </a:p>
        </p:txBody>
      </p:sp>
      <p:sp>
        <p:nvSpPr>
          <p:cNvPr id="6" name="Text 3"/>
          <p:cNvSpPr/>
          <p:nvPr/>
        </p:nvSpPr>
        <p:spPr>
          <a:xfrm>
            <a:off x="667512" y="1136393"/>
            <a:ext cx="9509760" cy="292608"/>
          </a:xfrm>
          <a:prstGeom prst="rect">
            <a:avLst/>
          </a:prstGeom>
          <a:noFill/>
          <a:ln/>
        </p:spPr>
        <p:txBody>
          <a:bodyPr wrap="square" lIns="0" tIns="0" rIns="0" bIns="0" rtlCol="0" anchor="ctr">
            <a:normAutofit/>
          </a:bodyPr>
          <a:lstStyle/>
          <a:p>
            <a:pPr marL="0" indent="0">
              <a:buNone/>
            </a:pPr>
            <a:r>
              <a:rPr lang="en-US" sz="1600" dirty="0">
                <a:solidFill>
                  <a:srgbClr val="243447"/>
                </a:solidFill>
                <a:latin typeface="Aptos" pitchFamily="34" charset="0"/>
                <a:ea typeface="Aptos" pitchFamily="34" charset="-122"/>
                <a:cs typeface="Aptos" pitchFamily="34" charset="-120"/>
              </a:rPr>
              <a:t>They let the whole system calculate before detailed sector imports are final.</a:t>
            </a:r>
            <a:endParaRPr lang="en-US" sz="1600" dirty="0"/>
          </a:p>
        </p:txBody>
      </p:sp>
      <p:sp>
        <p:nvSpPr>
          <p:cNvPr id="8" name="Text 5"/>
          <p:cNvSpPr/>
          <p:nvPr/>
        </p:nvSpPr>
        <p:spPr>
          <a:xfrm>
            <a:off x="272796" y="2154334"/>
            <a:ext cx="1828800" cy="914400"/>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Placeholder</a:t>
            </a:r>
            <a:endParaRPr lang="en-US" sz="1600" dirty="0"/>
          </a:p>
          <a:p>
            <a:pPr marL="0" indent="0" algn="ctr">
              <a:buNone/>
            </a:pPr>
            <a:r>
              <a:rPr lang="en-US" sz="1600" b="1" dirty="0">
                <a:solidFill>
                  <a:srgbClr val="004B8D"/>
                </a:solidFill>
                <a:latin typeface="Aptos" pitchFamily="34" charset="0"/>
                <a:ea typeface="Aptos" pitchFamily="34" charset="-122"/>
                <a:cs typeface="Aptos" pitchFamily="34" charset="-120"/>
              </a:rPr>
              <a:t>demand</a:t>
            </a:r>
            <a:endParaRPr lang="en-US" sz="1600" dirty="0"/>
          </a:p>
        </p:txBody>
      </p:sp>
      <p:sp>
        <p:nvSpPr>
          <p:cNvPr id="9" name="Text 6"/>
          <p:cNvSpPr/>
          <p:nvPr/>
        </p:nvSpPr>
        <p:spPr>
          <a:xfrm>
            <a:off x="3494379" y="2195673"/>
            <a:ext cx="1828800" cy="914400"/>
          </a:xfrm>
          <a:prstGeom prst="rect">
            <a:avLst/>
          </a:prstGeom>
          <a:solidFill>
            <a:srgbClr val="EEF8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Interim</a:t>
            </a:r>
            <a:endParaRPr lang="en-US" sz="1600" dirty="0"/>
          </a:p>
          <a:p>
            <a:pPr marL="0" indent="0" algn="ctr">
              <a:buNone/>
            </a:pPr>
            <a:r>
              <a:rPr lang="en-US" sz="1600" b="1" dirty="0">
                <a:solidFill>
                  <a:srgbClr val="004B8D"/>
                </a:solidFill>
                <a:latin typeface="Aptos" pitchFamily="34" charset="0"/>
                <a:ea typeface="Aptos" pitchFamily="34" charset="-122"/>
                <a:cs typeface="Aptos" pitchFamily="34" charset="-120"/>
              </a:rPr>
              <a:t>power</a:t>
            </a:r>
            <a:endParaRPr lang="en-US" sz="1600" dirty="0"/>
          </a:p>
        </p:txBody>
      </p:sp>
      <p:sp>
        <p:nvSpPr>
          <p:cNvPr id="10" name="Text 7"/>
          <p:cNvSpPr/>
          <p:nvPr/>
        </p:nvSpPr>
        <p:spPr>
          <a:xfrm>
            <a:off x="9375648" y="2184755"/>
            <a:ext cx="2011680" cy="914400"/>
          </a:xfrm>
          <a:prstGeom prst="rect">
            <a:avLst/>
          </a:prstGeom>
          <a:solidFill>
            <a:srgbClr val="FFFFFF"/>
          </a:solidFill>
          <a:ln w="13970">
            <a:solidFill>
              <a:srgbClr val="2EAD6B"/>
            </a:solidFill>
          </a:ln>
        </p:spPr>
        <p:txBody>
          <a:bodyPr wrap="square" lIns="889" tIns="889" rIns="889" bIns="889" rtlCol="0" anchor="ctr">
            <a:normAutofit/>
          </a:bodyPr>
          <a:lstStyle/>
          <a:p>
            <a:pPr marL="0" indent="0" algn="ctr">
              <a:buNone/>
            </a:pPr>
            <a:r>
              <a:rPr lang="en-US" sz="1600" b="1" dirty="0">
                <a:solidFill>
                  <a:srgbClr val="1D7A48"/>
                </a:solidFill>
                <a:latin typeface="Aptos" pitchFamily="34" charset="0"/>
                <a:ea typeface="Aptos" pitchFamily="34" charset="-122"/>
                <a:cs typeface="Aptos" pitchFamily="34" charset="-120"/>
              </a:rPr>
              <a:t>System can</a:t>
            </a:r>
            <a:endParaRPr lang="en-US" sz="1600" dirty="0"/>
          </a:p>
          <a:p>
            <a:pPr marL="0" indent="0" algn="ctr">
              <a:buNone/>
            </a:pPr>
            <a:r>
              <a:rPr lang="en-US" sz="1600" b="1" dirty="0">
                <a:solidFill>
                  <a:srgbClr val="1D7A48"/>
                </a:solidFill>
                <a:latin typeface="Aptos" pitchFamily="34" charset="0"/>
                <a:ea typeface="Aptos" pitchFamily="34" charset="-122"/>
                <a:cs typeface="Aptos" pitchFamily="34" charset="-120"/>
              </a:rPr>
              <a:t>calculate</a:t>
            </a:r>
            <a:endParaRPr lang="en-US" sz="1600" dirty="0"/>
          </a:p>
        </p:txBody>
      </p:sp>
      <p:sp>
        <p:nvSpPr>
          <p:cNvPr id="14" name="Text 11"/>
          <p:cNvSpPr/>
          <p:nvPr/>
        </p:nvSpPr>
        <p:spPr>
          <a:xfrm>
            <a:off x="1965960" y="3794760"/>
            <a:ext cx="8183880" cy="292608"/>
          </a:xfrm>
          <a:prstGeom prst="rect">
            <a:avLst/>
          </a:prstGeom>
          <a:noFill/>
          <a:ln/>
        </p:spPr>
        <p:txBody>
          <a:bodyPr wrap="square" lIns="0" tIns="0" rIns="0" bIns="0" rtlCol="0" anchor="ctr">
            <a:normAutofit lnSpcReduction="10000"/>
          </a:bodyPr>
          <a:lstStyle/>
          <a:p>
            <a:pPr marL="0" indent="0" algn="ctr">
              <a:buNone/>
            </a:pPr>
            <a:r>
              <a:rPr lang="en-US" sz="2000" b="1" u="sng" dirty="0">
                <a:solidFill>
                  <a:srgbClr val="004B8D"/>
                </a:solidFill>
                <a:latin typeface="Aptos" pitchFamily="34" charset="0"/>
                <a:ea typeface="Aptos" pitchFamily="34" charset="-122"/>
                <a:cs typeface="Aptos" pitchFamily="34" charset="-120"/>
              </a:rPr>
              <a:t>Once detailed demand and power branches are imported:</a:t>
            </a:r>
            <a:endParaRPr lang="en-US" sz="2000" u="sng" dirty="0"/>
          </a:p>
        </p:txBody>
      </p:sp>
      <p:sp>
        <p:nvSpPr>
          <p:cNvPr id="15" name="Text 12"/>
          <p:cNvSpPr/>
          <p:nvPr/>
        </p:nvSpPr>
        <p:spPr>
          <a:xfrm>
            <a:off x="2816352" y="4343400"/>
            <a:ext cx="1508760" cy="502920"/>
          </a:xfrm>
          <a:prstGeom prst="rect">
            <a:avLst/>
          </a:prstGeom>
          <a:solidFill>
            <a:srgbClr val="F7FA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Replace some</a:t>
            </a:r>
            <a:endParaRPr lang="en-US" sz="1600" dirty="0"/>
          </a:p>
        </p:txBody>
      </p:sp>
      <p:sp>
        <p:nvSpPr>
          <p:cNvPr id="16" name="Text 13"/>
          <p:cNvSpPr/>
          <p:nvPr/>
        </p:nvSpPr>
        <p:spPr>
          <a:xfrm>
            <a:off x="4892040" y="4343400"/>
            <a:ext cx="1508760" cy="502920"/>
          </a:xfrm>
          <a:prstGeom prst="rect">
            <a:avLst/>
          </a:prstGeom>
          <a:solidFill>
            <a:srgbClr val="F7FA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Delete all</a:t>
            </a:r>
            <a:endParaRPr lang="en-US" sz="1600" dirty="0"/>
          </a:p>
        </p:txBody>
      </p:sp>
      <p:sp>
        <p:nvSpPr>
          <p:cNvPr id="17" name="Text 14"/>
          <p:cNvSpPr/>
          <p:nvPr/>
        </p:nvSpPr>
        <p:spPr>
          <a:xfrm>
            <a:off x="6967728" y="4343400"/>
            <a:ext cx="1508760" cy="502920"/>
          </a:xfrm>
          <a:prstGeom prst="rect">
            <a:avLst/>
          </a:prstGeom>
          <a:solidFill>
            <a:srgbClr val="F7FAFC"/>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Or set to zero</a:t>
            </a:r>
            <a:endParaRPr lang="en-US" sz="1600" dirty="0"/>
          </a:p>
        </p:txBody>
      </p:sp>
      <p:sp>
        <p:nvSpPr>
          <p:cNvPr id="18" name="Text 15"/>
          <p:cNvSpPr/>
          <p:nvPr/>
        </p:nvSpPr>
        <p:spPr>
          <a:xfrm>
            <a:off x="932688" y="5486400"/>
            <a:ext cx="10332720" cy="914400"/>
          </a:xfrm>
          <a:prstGeom prst="rect">
            <a:avLst/>
          </a:prstGeom>
          <a:solidFill>
            <a:srgbClr val="FFFFFF">
              <a:alpha val="96000"/>
            </a:srgbClr>
          </a:solidFill>
          <a:ln w="8890">
            <a:solidFill>
              <a:srgbClr val="B7DFF2"/>
            </a:solidFill>
          </a:ln>
        </p:spPr>
        <p:txBody>
          <a:bodyPr wrap="square" lIns="762" tIns="762" rIns="762" bIns="762" rtlCol="0" anchor="ctr">
            <a:normAutofit/>
          </a:bodyPr>
          <a:lstStyle/>
          <a:p>
            <a:pPr algn="ctr"/>
            <a:r>
              <a:rPr lang="en-GB" b="1" dirty="0">
                <a:solidFill>
                  <a:srgbClr val="F28C28"/>
                </a:solidFill>
                <a:latin typeface="Aptos Display" pitchFamily="34" charset="0"/>
                <a:ea typeface="Aptos Display" pitchFamily="34" charset="-122"/>
                <a:cs typeface="Aptos Display" pitchFamily="34" charset="-120"/>
              </a:rPr>
              <a:t>Detailed </a:t>
            </a:r>
            <a:r>
              <a:rPr lang="en-GB" sz="1800" b="1" dirty="0">
                <a:solidFill>
                  <a:srgbClr val="F28C28"/>
                </a:solidFill>
                <a:latin typeface="Aptos Display" pitchFamily="34" charset="0"/>
                <a:ea typeface="Aptos Display" pitchFamily="34" charset="-122"/>
                <a:cs typeface="Aptos Display" pitchFamily="34" charset="-120"/>
              </a:rPr>
              <a:t>sector branches repl</a:t>
            </a:r>
            <a:r>
              <a:rPr lang="en-GB" b="1" dirty="0">
                <a:solidFill>
                  <a:srgbClr val="F28C28"/>
                </a:solidFill>
                <a:latin typeface="Aptos Display" pitchFamily="34" charset="0"/>
                <a:ea typeface="Aptos Display" pitchFamily="34" charset="-122"/>
                <a:cs typeface="Aptos Display" pitchFamily="34" charset="-120"/>
              </a:rPr>
              <a:t>ace</a:t>
            </a:r>
            <a:r>
              <a:rPr lang="en-GB" sz="1800" b="1" dirty="0">
                <a:solidFill>
                  <a:srgbClr val="F28C28"/>
                </a:solidFill>
                <a:latin typeface="Aptos Display" pitchFamily="34" charset="0"/>
                <a:ea typeface="Aptos Display" pitchFamily="34" charset="-122"/>
                <a:cs typeface="Aptos Display" pitchFamily="34" charset="-120"/>
              </a:rPr>
              <a:t> temporary placeholders or interim branches, which are used so </a:t>
            </a:r>
            <a:r>
              <a:rPr lang="en-GB" b="1" dirty="0">
                <a:solidFill>
                  <a:srgbClr val="F28C28"/>
                </a:solidFill>
                <a:latin typeface="Aptos Display" pitchFamily="34" charset="0"/>
                <a:ea typeface="Aptos Display" pitchFamily="34" charset="-122"/>
                <a:cs typeface="Aptos Display" pitchFamily="34" charset="-120"/>
              </a:rPr>
              <a:t>we can do most of the initialisation </a:t>
            </a:r>
            <a:r>
              <a:rPr lang="en-GB" sz="1800" b="1" dirty="0">
                <a:solidFill>
                  <a:srgbClr val="F28C28"/>
                </a:solidFill>
                <a:latin typeface="Aptos Display" pitchFamily="34" charset="0"/>
                <a:ea typeface="Aptos Display" pitchFamily="34" charset="-122"/>
                <a:cs typeface="Aptos Display" pitchFamily="34" charset="-120"/>
              </a:rPr>
              <a:t>before the detailed models are ready.</a:t>
            </a:r>
            <a:endParaRPr lang="en-US" sz="1800" dirty="0"/>
          </a:p>
        </p:txBody>
      </p:sp>
      <p:sp>
        <p:nvSpPr>
          <p:cNvPr id="20" name="TextBox 19">
            <a:extLst>
              <a:ext uri="{FF2B5EF4-FFF2-40B4-BE49-F238E27FC236}">
                <a16:creationId xmlns:a16="http://schemas.microsoft.com/office/drawing/2014/main" id="{69EE37BA-52D3-5E25-7683-F65FFBC6EE78}"/>
              </a:ext>
            </a:extLst>
          </p:cNvPr>
          <p:cNvSpPr txBox="1"/>
          <p:nvPr/>
        </p:nvSpPr>
        <p:spPr>
          <a:xfrm>
            <a:off x="1624584" y="1578403"/>
            <a:ext cx="7875270" cy="461665"/>
          </a:xfrm>
          <a:prstGeom prst="rect">
            <a:avLst/>
          </a:prstGeom>
          <a:noFill/>
        </p:spPr>
        <p:txBody>
          <a:bodyPr wrap="square">
            <a:spAutoFit/>
          </a:bodyPr>
          <a:lstStyle/>
          <a:p>
            <a:pPr marL="0" indent="0" algn="ctr">
              <a:buNone/>
            </a:pPr>
            <a:r>
              <a:rPr lang="en-US" sz="2400" b="1" u="sng" dirty="0">
                <a:solidFill>
                  <a:srgbClr val="004B8D"/>
                </a:solidFill>
                <a:latin typeface="Aptos" pitchFamily="34" charset="0"/>
                <a:ea typeface="Aptos" pitchFamily="34" charset="-122"/>
                <a:cs typeface="Aptos" pitchFamily="34" charset="-120"/>
              </a:rPr>
              <a:t>Before detailed imports:</a:t>
            </a:r>
            <a:endParaRPr lang="en-US" sz="2400" u="sng" dirty="0"/>
          </a:p>
        </p:txBody>
      </p:sp>
      <p:grpSp>
        <p:nvGrpSpPr>
          <p:cNvPr id="32" name="Group 31">
            <a:extLst>
              <a:ext uri="{FF2B5EF4-FFF2-40B4-BE49-F238E27FC236}">
                <a16:creationId xmlns:a16="http://schemas.microsoft.com/office/drawing/2014/main" id="{EABF7C97-B299-7055-EA8F-B00A823D80E5}"/>
              </a:ext>
            </a:extLst>
          </p:cNvPr>
          <p:cNvGrpSpPr/>
          <p:nvPr/>
        </p:nvGrpSpPr>
        <p:grpSpPr>
          <a:xfrm>
            <a:off x="2471928" y="2196244"/>
            <a:ext cx="688848" cy="830580"/>
            <a:chOff x="2471928" y="1915477"/>
            <a:chExt cx="688848" cy="830580"/>
          </a:xfrm>
        </p:grpSpPr>
        <p:cxnSp>
          <p:nvCxnSpPr>
            <p:cNvPr id="23" name="Straight Connector 22">
              <a:extLst>
                <a:ext uri="{FF2B5EF4-FFF2-40B4-BE49-F238E27FC236}">
                  <a16:creationId xmlns:a16="http://schemas.microsoft.com/office/drawing/2014/main" id="{1C4C6517-FDB0-92E6-020C-84D4585D1994}"/>
                </a:ext>
              </a:extLst>
            </p:cNvPr>
            <p:cNvCxnSpPr/>
            <p:nvPr/>
          </p:nvCxnSpPr>
          <p:spPr>
            <a:xfrm>
              <a:off x="2816352" y="1915477"/>
              <a:ext cx="0" cy="83058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BDFE1A4-7DDA-B27E-7D90-C4B67478EF59}"/>
                </a:ext>
              </a:extLst>
            </p:cNvPr>
            <p:cNvCxnSpPr>
              <a:cxnSpLocks/>
            </p:cNvCxnSpPr>
            <p:nvPr/>
          </p:nvCxnSpPr>
          <p:spPr>
            <a:xfrm flipH="1">
              <a:off x="2471928" y="2330767"/>
              <a:ext cx="688848"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38F39C2D-C26B-7615-4F38-B55FC7666764}"/>
              </a:ext>
            </a:extLst>
          </p:cNvPr>
          <p:cNvGrpSpPr/>
          <p:nvPr/>
        </p:nvGrpSpPr>
        <p:grpSpPr>
          <a:xfrm>
            <a:off x="5641086" y="2343370"/>
            <a:ext cx="688848" cy="643890"/>
            <a:chOff x="6400800" y="2051684"/>
            <a:chExt cx="688848" cy="643890"/>
          </a:xfrm>
        </p:grpSpPr>
        <p:cxnSp>
          <p:nvCxnSpPr>
            <p:cNvPr id="26" name="Straight Connector 25">
              <a:extLst>
                <a:ext uri="{FF2B5EF4-FFF2-40B4-BE49-F238E27FC236}">
                  <a16:creationId xmlns:a16="http://schemas.microsoft.com/office/drawing/2014/main" id="{104A57B2-7B07-5656-EDF1-4C96D0ADB9A6}"/>
                </a:ext>
              </a:extLst>
            </p:cNvPr>
            <p:cNvCxnSpPr>
              <a:cxnSpLocks/>
            </p:cNvCxnSpPr>
            <p:nvPr/>
          </p:nvCxnSpPr>
          <p:spPr>
            <a:xfrm flipH="1">
              <a:off x="6400800" y="2373629"/>
              <a:ext cx="688848"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C07F558-D829-F4B7-B215-A5FFE87DD753}"/>
                </a:ext>
              </a:extLst>
            </p:cNvPr>
            <p:cNvCxnSpPr>
              <a:cxnSpLocks/>
            </p:cNvCxnSpPr>
            <p:nvPr/>
          </p:nvCxnSpPr>
          <p:spPr>
            <a:xfrm flipV="1">
              <a:off x="6745224" y="2051684"/>
              <a:ext cx="0" cy="64389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 6">
            <a:extLst>
              <a:ext uri="{FF2B5EF4-FFF2-40B4-BE49-F238E27FC236}">
                <a16:creationId xmlns:a16="http://schemas.microsoft.com/office/drawing/2014/main" id="{043A3E88-F8A9-CE3B-2309-11D0D5938661}"/>
              </a:ext>
            </a:extLst>
          </p:cNvPr>
          <p:cNvSpPr/>
          <p:nvPr/>
        </p:nvSpPr>
        <p:spPr>
          <a:xfrm>
            <a:off x="6531026" y="2194400"/>
            <a:ext cx="1828800" cy="914400"/>
          </a:xfrm>
          <a:prstGeom prst="rect">
            <a:avLst/>
          </a:prstGeom>
          <a:ln/>
        </p:spPr>
        <p:style>
          <a:lnRef idx="2">
            <a:schemeClr val="accent3"/>
          </a:lnRef>
          <a:fillRef idx="1">
            <a:schemeClr val="lt1"/>
          </a:fillRef>
          <a:effectRef idx="0">
            <a:schemeClr val="accent3"/>
          </a:effectRef>
          <a:fontRef idx="minor">
            <a:schemeClr val="dk1"/>
          </a:fontRef>
        </p:style>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Other Transformation / Supply</a:t>
            </a:r>
            <a:endParaRPr lang="en-US" sz="1600" dirty="0"/>
          </a:p>
        </p:txBody>
      </p:sp>
      <p:cxnSp>
        <p:nvCxnSpPr>
          <p:cNvPr id="36" name="Straight Arrow Connector 35">
            <a:extLst>
              <a:ext uri="{FF2B5EF4-FFF2-40B4-BE49-F238E27FC236}">
                <a16:creationId xmlns:a16="http://schemas.microsoft.com/office/drawing/2014/main" id="{F9455B1D-998F-16D3-CA5A-0B463B50C135}"/>
              </a:ext>
            </a:extLst>
          </p:cNvPr>
          <p:cNvCxnSpPr/>
          <p:nvPr/>
        </p:nvCxnSpPr>
        <p:spPr>
          <a:xfrm>
            <a:off x="8564880" y="2641955"/>
            <a:ext cx="58674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11448288" y="384048"/>
            <a:ext cx="219456" cy="146304"/>
          </a:xfrm>
          <a:prstGeom prst="rect">
            <a:avLst/>
          </a:prstGeom>
          <a:noFill/>
          <a:ln/>
        </p:spPr>
        <p:txBody>
          <a:bodyPr wrap="square" lIns="0" tIns="0" rIns="0" bIns="0" rtlCol="0" anchor="ctr"/>
          <a:lstStyle/>
          <a:p>
            <a:pPr marL="0" indent="0" algn="r">
              <a:buNone/>
            </a:pPr>
            <a:r>
              <a:rPr lang="en-US" sz="560" dirty="0">
                <a:solidFill>
                  <a:srgbClr val="A6A6A6"/>
                </a:solidFill>
                <a:latin typeface="Aptos" pitchFamily="34" charset="0"/>
                <a:ea typeface="Aptos" pitchFamily="34" charset="-122"/>
                <a:cs typeface="Aptos" pitchFamily="34" charset="-120"/>
              </a:rPr>
              <a:t>11</a:t>
            </a:r>
            <a:endParaRPr lang="en-US" sz="560" dirty="0"/>
          </a:p>
        </p:txBody>
      </p:sp>
      <p:sp>
        <p:nvSpPr>
          <p:cNvPr id="4" name="Text 1"/>
          <p:cNvSpPr/>
          <p:nvPr/>
        </p:nvSpPr>
        <p:spPr>
          <a:xfrm>
            <a:off x="658368" y="384048"/>
            <a:ext cx="3840480" cy="164592"/>
          </a:xfrm>
          <a:prstGeom prst="rect">
            <a:avLst/>
          </a:prstGeom>
          <a:noFill/>
          <a:ln/>
        </p:spPr>
        <p:txBody>
          <a:bodyPr wrap="square" lIns="0" tIns="0" rIns="0" bIns="0" rtlCol="0" anchor="ctr"/>
          <a:lstStyle/>
          <a:p>
            <a:pPr marL="0" indent="0">
              <a:buNone/>
            </a:pPr>
            <a:r>
              <a:rPr lang="en-US" sz="680" b="1" dirty="0">
                <a:solidFill>
                  <a:srgbClr val="00A8E8"/>
                </a:solidFill>
                <a:latin typeface="Aptos" pitchFamily="34" charset="0"/>
                <a:ea typeface="Aptos" pitchFamily="34" charset="-122"/>
                <a:cs typeface="Aptos" pitchFamily="34" charset="-120"/>
              </a:rPr>
              <a:t>PRACTICAL HANDOVER</a:t>
            </a:r>
            <a:endParaRPr lang="en-US" sz="680" dirty="0"/>
          </a:p>
        </p:txBody>
      </p:sp>
      <p:sp>
        <p:nvSpPr>
          <p:cNvPr id="5" name="Text 2"/>
          <p:cNvSpPr/>
          <p:nvPr/>
        </p:nvSpPr>
        <p:spPr>
          <a:xfrm>
            <a:off x="658368" y="621792"/>
            <a:ext cx="8595360" cy="438912"/>
          </a:xfrm>
          <a:prstGeom prst="rect">
            <a:avLst/>
          </a:prstGeom>
          <a:noFill/>
          <a:ln/>
        </p:spPr>
        <p:txBody>
          <a:bodyPr wrap="square" lIns="0" tIns="0" rIns="0" bIns="0" rtlCol="0" anchor="ctr">
            <a:normAutofit/>
          </a:bodyPr>
          <a:lstStyle/>
          <a:p>
            <a:pPr marL="0" indent="0">
              <a:buNone/>
            </a:pPr>
            <a:r>
              <a:rPr lang="en-US" sz="2400" b="1" dirty="0">
                <a:solidFill>
                  <a:srgbClr val="004B8D"/>
                </a:solidFill>
                <a:latin typeface="Aptos Display" pitchFamily="34" charset="0"/>
                <a:ea typeface="Aptos Display" pitchFamily="34" charset="-122"/>
                <a:cs typeface="Aptos Display" pitchFamily="34" charset="-120"/>
              </a:rPr>
              <a:t>What modellers should do next</a:t>
            </a:r>
            <a:endParaRPr lang="en-US" sz="2400" dirty="0"/>
          </a:p>
        </p:txBody>
      </p:sp>
      <p:sp>
        <p:nvSpPr>
          <p:cNvPr id="6" name="Text 3"/>
          <p:cNvSpPr/>
          <p:nvPr/>
        </p:nvSpPr>
        <p:spPr>
          <a:xfrm>
            <a:off x="667512" y="1115568"/>
            <a:ext cx="9509760" cy="292608"/>
          </a:xfrm>
          <a:prstGeom prst="rect">
            <a:avLst/>
          </a:prstGeom>
          <a:noFill/>
          <a:ln/>
        </p:spPr>
        <p:txBody>
          <a:bodyPr wrap="square" lIns="0" tIns="0" rIns="0" bIns="0" rtlCol="0" anchor="ctr">
            <a:normAutofit/>
          </a:bodyPr>
          <a:lstStyle/>
          <a:p>
            <a:pPr marL="0" indent="0">
              <a:buNone/>
            </a:pPr>
            <a:r>
              <a:rPr lang="en-US" sz="1600" dirty="0">
                <a:solidFill>
                  <a:srgbClr val="243447"/>
                </a:solidFill>
                <a:latin typeface="Aptos" pitchFamily="34" charset="0"/>
                <a:ea typeface="Aptos" pitchFamily="34" charset="-122"/>
                <a:cs typeface="Aptos" pitchFamily="34" charset="-120"/>
              </a:rPr>
              <a:t>Use the initialised area as a starting point, then check and improve it.</a:t>
            </a:r>
            <a:endParaRPr lang="en-US" sz="1600" dirty="0"/>
          </a:p>
        </p:txBody>
      </p:sp>
      <p:sp>
        <p:nvSpPr>
          <p:cNvPr id="7" name="Text 4"/>
          <p:cNvSpPr/>
          <p:nvPr/>
        </p:nvSpPr>
        <p:spPr>
          <a:xfrm>
            <a:off x="1240536" y="1970532"/>
            <a:ext cx="731520" cy="731520"/>
          </a:xfrm>
          <a:prstGeom prst="ellipse">
            <a:avLst/>
          </a:prstGeom>
          <a:solidFill>
            <a:srgbClr val="00A8E8"/>
          </a:solidFill>
          <a:ln>
            <a:solidFill>
              <a:srgbClr val="00A8E8"/>
            </a:solid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1</a:t>
            </a:r>
            <a:endParaRPr lang="en-US" sz="2200" dirty="0"/>
          </a:p>
        </p:txBody>
      </p:sp>
      <p:sp>
        <p:nvSpPr>
          <p:cNvPr id="8" name="Text 5"/>
          <p:cNvSpPr/>
          <p:nvPr/>
        </p:nvSpPr>
        <p:spPr>
          <a:xfrm>
            <a:off x="399288" y="2884932"/>
            <a:ext cx="2423160" cy="960120"/>
          </a:xfrm>
          <a:prstGeom prst="rect">
            <a:avLst/>
          </a:prstGeom>
          <a:solidFill>
            <a:srgbClr val="FFFFFF"/>
          </a:solidFill>
          <a:ln w="13970">
            <a:solidFill>
              <a:srgbClr val="00A8E8"/>
            </a:solidFill>
          </a:ln>
        </p:spPr>
        <p:txBody>
          <a:bodyPr wrap="square" lIns="889" tIns="889" rIns="889" bIns="889" rtlCol="0" anchor="ctr">
            <a:normAutofit/>
          </a:bodyPr>
          <a:lstStyle/>
          <a:p>
            <a:pPr algn="ctr"/>
            <a:r>
              <a:rPr lang="en-US" sz="1600" b="1" dirty="0">
                <a:solidFill>
                  <a:srgbClr val="004B8D"/>
                </a:solidFill>
                <a:latin typeface="Aptos" pitchFamily="34" charset="0"/>
                <a:ea typeface="Aptos" pitchFamily="34" charset="-122"/>
                <a:cs typeface="Aptos" pitchFamily="34" charset="-120"/>
              </a:rPr>
              <a:t>Finish models and replace</a:t>
            </a:r>
            <a:endParaRPr lang="en-US" sz="1600" dirty="0"/>
          </a:p>
          <a:p>
            <a:pPr algn="ctr"/>
            <a:r>
              <a:rPr lang="en-US" sz="1600" b="1" dirty="0">
                <a:solidFill>
                  <a:srgbClr val="004B8D"/>
                </a:solidFill>
                <a:latin typeface="Aptos" pitchFamily="34" charset="0"/>
                <a:ea typeface="Aptos" pitchFamily="34" charset="-122"/>
                <a:cs typeface="Aptos" pitchFamily="34" charset="-120"/>
              </a:rPr>
              <a:t>placeholders</a:t>
            </a:r>
            <a:endParaRPr lang="en-US" sz="1600" dirty="0"/>
          </a:p>
        </p:txBody>
      </p:sp>
      <p:sp>
        <p:nvSpPr>
          <p:cNvPr id="9" name="Text 6"/>
          <p:cNvSpPr/>
          <p:nvPr/>
        </p:nvSpPr>
        <p:spPr>
          <a:xfrm>
            <a:off x="4166616" y="1970532"/>
            <a:ext cx="731520" cy="731520"/>
          </a:xfrm>
          <a:prstGeom prst="ellipse">
            <a:avLst/>
          </a:prstGeom>
          <a:solidFill>
            <a:srgbClr val="00A8E8"/>
          </a:solidFill>
          <a:ln>
            <a:solidFill>
              <a:srgbClr val="00A8E8"/>
            </a:solid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2</a:t>
            </a:r>
            <a:endParaRPr lang="en-US" sz="2200" dirty="0"/>
          </a:p>
        </p:txBody>
      </p:sp>
      <p:sp>
        <p:nvSpPr>
          <p:cNvPr id="10" name="Text 7"/>
          <p:cNvSpPr/>
          <p:nvPr/>
        </p:nvSpPr>
        <p:spPr>
          <a:xfrm>
            <a:off x="3325368" y="2884932"/>
            <a:ext cx="2423160" cy="960120"/>
          </a:xfrm>
          <a:prstGeom prst="rect">
            <a:avLst/>
          </a:prstGeom>
          <a:solidFill>
            <a:srgbClr val="FFFFFF"/>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Document and teach</a:t>
            </a:r>
            <a:endParaRPr lang="en-US" sz="1600" dirty="0"/>
          </a:p>
        </p:txBody>
      </p:sp>
      <p:sp>
        <p:nvSpPr>
          <p:cNvPr id="11" name="Text 8"/>
          <p:cNvSpPr/>
          <p:nvPr/>
        </p:nvSpPr>
        <p:spPr>
          <a:xfrm>
            <a:off x="7092696" y="1970532"/>
            <a:ext cx="731520" cy="731520"/>
          </a:xfrm>
          <a:prstGeom prst="ellipse">
            <a:avLst/>
          </a:prstGeom>
          <a:solidFill>
            <a:srgbClr val="00A8E8"/>
          </a:solidFill>
          <a:ln>
            <a:solidFill>
              <a:srgbClr val="00A8E8"/>
            </a:solid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3</a:t>
            </a:r>
            <a:endParaRPr lang="en-US" sz="2200" dirty="0"/>
          </a:p>
        </p:txBody>
      </p:sp>
      <p:sp>
        <p:nvSpPr>
          <p:cNvPr id="12" name="Text 9"/>
          <p:cNvSpPr/>
          <p:nvPr/>
        </p:nvSpPr>
        <p:spPr>
          <a:xfrm>
            <a:off x="6251448" y="2884932"/>
            <a:ext cx="2423160" cy="960120"/>
          </a:xfrm>
          <a:prstGeom prst="rect">
            <a:avLst/>
          </a:prstGeom>
          <a:solidFill>
            <a:srgbClr val="FFFFFF"/>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Help with </a:t>
            </a:r>
            <a:r>
              <a:rPr lang="en-US" sz="1600" b="1" dirty="0" err="1">
                <a:solidFill>
                  <a:srgbClr val="004B8D"/>
                </a:solidFill>
                <a:latin typeface="Aptos" pitchFamily="34" charset="0"/>
                <a:ea typeface="Aptos" pitchFamily="34" charset="-122"/>
                <a:cs typeface="Aptos" pitchFamily="34" charset="-120"/>
              </a:rPr>
              <a:t>initialisation</a:t>
            </a:r>
            <a:endParaRPr lang="en-US" sz="1600" dirty="0"/>
          </a:p>
        </p:txBody>
      </p:sp>
      <p:sp>
        <p:nvSpPr>
          <p:cNvPr id="13" name="Text 10"/>
          <p:cNvSpPr/>
          <p:nvPr/>
        </p:nvSpPr>
        <p:spPr>
          <a:xfrm>
            <a:off x="10018776" y="1970532"/>
            <a:ext cx="731520" cy="731520"/>
          </a:xfrm>
          <a:prstGeom prst="ellipse">
            <a:avLst/>
          </a:prstGeom>
          <a:solidFill>
            <a:srgbClr val="00A8E8"/>
          </a:solidFill>
          <a:ln>
            <a:solidFill>
              <a:srgbClr val="00A8E8"/>
            </a:solidFill>
          </a:ln>
        </p:spPr>
        <p:txBody>
          <a:bodyPr wrap="square" lIns="0" tIns="0" rIns="0" bIns="0" rtlCol="0" anchor="ctr"/>
          <a:lstStyle/>
          <a:p>
            <a:pPr marL="0" indent="0" algn="ctr">
              <a:buNone/>
            </a:pPr>
            <a:r>
              <a:rPr lang="en-US" sz="2200" b="1" dirty="0">
                <a:solidFill>
                  <a:srgbClr val="FFFFFF"/>
                </a:solidFill>
                <a:latin typeface="Aptos Display" pitchFamily="34" charset="0"/>
                <a:ea typeface="Aptos Display" pitchFamily="34" charset="-122"/>
                <a:cs typeface="Aptos Display" pitchFamily="34" charset="-120"/>
              </a:rPr>
              <a:t>4</a:t>
            </a:r>
            <a:endParaRPr lang="en-US" sz="2200" dirty="0"/>
          </a:p>
        </p:txBody>
      </p:sp>
      <p:sp>
        <p:nvSpPr>
          <p:cNvPr id="14" name="Text 11"/>
          <p:cNvSpPr/>
          <p:nvPr/>
        </p:nvSpPr>
        <p:spPr>
          <a:xfrm>
            <a:off x="9177528" y="2884932"/>
            <a:ext cx="2423160" cy="960120"/>
          </a:xfrm>
          <a:prstGeom prst="rect">
            <a:avLst/>
          </a:prstGeom>
          <a:solidFill>
            <a:srgbClr val="FFFFFF"/>
          </a:solidFill>
          <a:ln w="13970">
            <a:solidFill>
              <a:srgbClr val="00A8E8"/>
            </a:solidFill>
          </a:ln>
        </p:spPr>
        <p:txBody>
          <a:bodyPr wrap="square" lIns="889" tIns="889" rIns="889" bIns="889" rtlCol="0" anchor="ctr">
            <a:normAutofit/>
          </a:bodyPr>
          <a:lstStyle/>
          <a:p>
            <a:pPr marL="0" indent="0" algn="ctr">
              <a:buNone/>
            </a:pPr>
            <a:r>
              <a:rPr lang="en-US" sz="1600" b="1" dirty="0">
                <a:solidFill>
                  <a:srgbClr val="004B8D"/>
                </a:solidFill>
                <a:latin typeface="Aptos" pitchFamily="34" charset="0"/>
                <a:ea typeface="Aptos" pitchFamily="34" charset="-122"/>
                <a:cs typeface="Aptos" pitchFamily="34" charset="-120"/>
              </a:rPr>
              <a:t>Record</a:t>
            </a:r>
            <a:endParaRPr lang="en-US" sz="1600" dirty="0"/>
          </a:p>
          <a:p>
            <a:pPr marL="0" indent="0" algn="ctr">
              <a:buNone/>
            </a:pPr>
            <a:r>
              <a:rPr lang="en-US" sz="1600" b="1" dirty="0">
                <a:solidFill>
                  <a:srgbClr val="004B8D"/>
                </a:solidFill>
                <a:latin typeface="Aptos" pitchFamily="34" charset="0"/>
                <a:ea typeface="Aptos" pitchFamily="34" charset="-122"/>
                <a:cs typeface="Aptos" pitchFamily="34" charset="-120"/>
              </a:rPr>
              <a:t>issues and fixes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1095</Words>
  <Application>Microsoft Office PowerPoint</Application>
  <PresentationFormat>Widescreen</PresentationFormat>
  <Paragraphs>136</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APERC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LEAP Initialisation Modellers Meeting</dc:title>
  <dc:subject>LEAP Initialisation Modellers Meeting</dc:subject>
  <dc:creator>OpenAI</dc:creator>
  <cp:lastModifiedBy>Finbar MAUNSELL</cp:lastModifiedBy>
  <cp:revision>7</cp:revision>
  <dcterms:created xsi:type="dcterms:W3CDTF">2026-07-06T13:00:22Z</dcterms:created>
  <dcterms:modified xsi:type="dcterms:W3CDTF">2026-07-07T02:41:06Z</dcterms:modified>
</cp:coreProperties>
</file>